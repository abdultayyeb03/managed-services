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85" r:id="rId6"/>
    <p:sldId id="280" r:id="rId7"/>
    <p:sldId id="282" r:id="rId8"/>
    <p:sldId id="283" r:id="rId9"/>
    <p:sldId id="284" r:id="rId10"/>
    <p:sldId id="286" r:id="rId11"/>
    <p:sldId id="261" r:id="rId12"/>
    <p:sldId id="287" r:id="rId13"/>
    <p:sldId id="288" r:id="rId14"/>
    <p:sldId id="289" r:id="rId15"/>
    <p:sldId id="277" r:id="rId16"/>
    <p:sldId id="276" r:id="rId17"/>
    <p:sldId id="278" r:id="rId18"/>
    <p:sldId id="265" r:id="rId19"/>
    <p:sldId id="29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2185"/>
    <a:srgbClr val="FF14B4"/>
    <a:srgbClr val="FD7B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23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oxhunt.com/guide/phishing-trends-report#part-i-phishing-trends-amp-statistic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loitte.com/us/en/services/consulting/articles/cybersecurity-report-2025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heckpoint.com/resources/items/report-cyber-security-report-2025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checkpoint.com/resources/items/report-ai-security-report-202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.search.yahoo.com/_ylt=AwrKBwhMYxBpBgIA1zK7HAx.;_ylu=Y29sbwNzZzMEcG9zAzEEdnRpZAMEc2VjA3Ny/RV=2/RE=1763891276/RO=10/RU=https:/www.fortinet.com/content/dam/fortinet/assets/reports/2024-cybersecurity-skills-gap-report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Launching Managed Security Services with Check 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Alf &amp; Check Point MSSP Solution | Kuwait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Alf Overview</a:t>
            </a:r>
          </a:p>
          <a:p>
            <a:r>
              <a:rPr dirty="0" smtClean="0"/>
              <a:t>Threat Landscap</a:t>
            </a:r>
            <a:r>
              <a:rPr lang="en-US" dirty="0" smtClean="0"/>
              <a:t>e</a:t>
            </a:r>
            <a:endParaRPr dirty="0"/>
          </a:p>
          <a:p>
            <a:r>
              <a:rPr dirty="0"/>
              <a:t>What is </a:t>
            </a:r>
            <a:r>
              <a:rPr dirty="0" smtClean="0"/>
              <a:t>MSSP?</a:t>
            </a:r>
            <a:endParaRPr lang="en-US" dirty="0" smtClean="0"/>
          </a:p>
          <a:p>
            <a:r>
              <a:rPr lang="en-IN" dirty="0"/>
              <a:t>Customer Benefits</a:t>
            </a:r>
            <a:endParaRPr dirty="0"/>
          </a:p>
          <a:p>
            <a:r>
              <a:rPr lang="en-IN" dirty="0"/>
              <a:t>Check Point </a:t>
            </a:r>
            <a:r>
              <a:rPr lang="en-IN" dirty="0" smtClean="0"/>
              <a:t>Overview</a:t>
            </a:r>
            <a:endParaRPr lang="en-US" dirty="0" smtClean="0"/>
          </a:p>
          <a:p>
            <a:r>
              <a:rPr dirty="0" smtClean="0"/>
              <a:t>Why </a:t>
            </a:r>
            <a:r>
              <a:rPr dirty="0"/>
              <a:t>Check Point</a:t>
            </a:r>
            <a:r>
              <a:rPr dirty="0" smtClean="0"/>
              <a:t>?</a:t>
            </a:r>
            <a:endParaRPr dirty="0"/>
          </a:p>
          <a:p>
            <a:r>
              <a:rPr dirty="0"/>
              <a:t>Q&amp;A</a:t>
            </a:r>
          </a:p>
          <a:p>
            <a:r>
              <a:rPr dirty="0"/>
              <a:t>Lunch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Alf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Trusted technology partner in Kuwait</a:t>
            </a:r>
          </a:p>
          <a:p>
            <a:r>
              <a:rPr dirty="0"/>
              <a:t>Focused on digital transformation and managed services</a:t>
            </a:r>
          </a:p>
          <a:p>
            <a:r>
              <a:rPr dirty="0"/>
              <a:t>Enabling secure digital growth for customers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>
                <a:latin typeface="Arial Black" panose="020B0A04020102020204" pitchFamily="34" charset="0"/>
              </a:rPr>
              <a:t>Threat </a:t>
            </a:r>
            <a:r>
              <a:rPr dirty="0" smtClean="0">
                <a:latin typeface="Arial Black" panose="020B0A04020102020204" pitchFamily="34" charset="0"/>
              </a:rPr>
              <a:t>Landscape</a:t>
            </a:r>
            <a:r>
              <a:rPr lang="en-US" dirty="0" smtClean="0">
                <a:latin typeface="Arial Black" panose="020B0A04020102020204" pitchFamily="34" charset="0"/>
              </a:rPr>
              <a:t> Overview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525">
              <a:spcBef>
                <a:spcPts val="79"/>
              </a:spcBef>
            </a:pPr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Threat Vectors</a:t>
            </a:r>
          </a:p>
          <a:p>
            <a:pPr marL="409575" lvl="1">
              <a:spcBef>
                <a:spcPts val="79"/>
              </a:spcBef>
            </a:pPr>
            <a:r>
              <a:rPr lang="en-US" sz="1400" spc="-56" dirty="0" smtClean="0">
                <a:latin typeface="Arial Black"/>
                <a:cs typeface="Arial Black"/>
              </a:rPr>
              <a:t>Phishing</a:t>
            </a:r>
          </a:p>
          <a:p>
            <a:pPr marL="409575" lvl="1">
              <a:spcBef>
                <a:spcPts val="79"/>
              </a:spcBef>
            </a:pPr>
            <a:r>
              <a:rPr lang="en-US" sz="1400" spc="-56" dirty="0" err="1" smtClean="0">
                <a:latin typeface="Arial Black"/>
                <a:cs typeface="Arial Black"/>
              </a:rPr>
              <a:t>Ransomware</a:t>
            </a:r>
            <a:endParaRPr lang="en-US" sz="1400" spc="-56" dirty="0" smtClean="0">
              <a:latin typeface="Arial Black"/>
              <a:cs typeface="Arial Black"/>
            </a:endParaRPr>
          </a:p>
          <a:p>
            <a:pPr marL="409575" lvl="1">
              <a:spcBef>
                <a:spcPts val="79"/>
              </a:spcBef>
            </a:pPr>
            <a:r>
              <a:rPr lang="en-US" sz="1400" spc="-56" dirty="0" smtClean="0">
                <a:latin typeface="Arial Black"/>
                <a:cs typeface="Arial Black"/>
              </a:rPr>
              <a:t>Email &amp; Web</a:t>
            </a:r>
            <a:endParaRPr lang="en-US" sz="1600" spc="-56" dirty="0" smtClean="0">
              <a:solidFill>
                <a:srgbClr val="85BB24"/>
              </a:solidFill>
              <a:latin typeface="Arial Black"/>
              <a:cs typeface="Arial Black"/>
            </a:endParaRPr>
          </a:p>
          <a:p>
            <a:pPr marL="9525">
              <a:spcBef>
                <a:spcPts val="79"/>
              </a:spcBef>
            </a:pPr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Emerging </a:t>
            </a:r>
            <a:r>
              <a:rPr lang="en-US" sz="1800" spc="-56" dirty="0" err="1" smtClean="0">
                <a:solidFill>
                  <a:srgbClr val="85BB24"/>
                </a:solidFill>
                <a:latin typeface="Arial Black"/>
                <a:cs typeface="Arial Black"/>
              </a:rPr>
              <a:t>Cybersecurity</a:t>
            </a:r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 Trends</a:t>
            </a:r>
            <a:endParaRPr lang="en-US" sz="2000" spc="-56" dirty="0" smtClean="0">
              <a:latin typeface="Arial Black"/>
              <a:cs typeface="Arial Black"/>
            </a:endParaRPr>
          </a:p>
          <a:p>
            <a:pPr marL="9525">
              <a:spcBef>
                <a:spcPts val="79"/>
              </a:spcBef>
            </a:pPr>
            <a:r>
              <a:rPr lang="en-US" sz="1800" spc="-56" dirty="0" err="1" smtClean="0">
                <a:solidFill>
                  <a:srgbClr val="85BB24"/>
                </a:solidFill>
                <a:latin typeface="Arial Black"/>
                <a:cs typeface="Arial Black"/>
              </a:rPr>
              <a:t>Cybersecurity</a:t>
            </a:r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 Gap</a:t>
            </a:r>
            <a:endParaRPr lang="en-US" sz="2000" spc="-56" dirty="0" smtClean="0">
              <a:solidFill>
                <a:srgbClr val="85BB24"/>
              </a:solidFill>
              <a:latin typeface="Arial Black"/>
              <a:cs typeface="Arial Black"/>
            </a:endParaRPr>
          </a:p>
          <a:p>
            <a:pPr marL="9525">
              <a:spcBef>
                <a:spcPts val="79"/>
              </a:spcBef>
            </a:pPr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Impact of a Cyber Breach</a:t>
            </a:r>
            <a:endParaRPr lang="en-US" sz="1800" dirty="0">
              <a:latin typeface="Arial Black"/>
              <a:cs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 txBox="1">
            <a:spLocks noGrp="1"/>
          </p:cNvSpPr>
          <p:nvPr>
            <p:ph type="title"/>
          </p:nvPr>
        </p:nvSpPr>
        <p:spPr>
          <a:xfrm>
            <a:off x="638333" y="657238"/>
            <a:ext cx="805180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21431">
              <a:spcBef>
                <a:spcPts val="79"/>
              </a:spcBef>
            </a:pPr>
            <a:r>
              <a:rPr sz="2400" spc="-116" dirty="0">
                <a:latin typeface="Arial Black" panose="020B0A04020102020204" pitchFamily="34" charset="0"/>
              </a:rPr>
              <a:t>Threat</a:t>
            </a:r>
            <a:r>
              <a:rPr sz="2400" spc="-94" dirty="0">
                <a:latin typeface="Arial Black" panose="020B0A04020102020204" pitchFamily="34" charset="0"/>
              </a:rPr>
              <a:t> </a:t>
            </a:r>
            <a:r>
              <a:rPr sz="2400" spc="-127" dirty="0">
                <a:latin typeface="Arial Black" panose="020B0A04020102020204" pitchFamily="34" charset="0"/>
              </a:rPr>
              <a:t>vector</a:t>
            </a:r>
            <a:r>
              <a:rPr sz="2400" spc="-94" dirty="0">
                <a:latin typeface="Arial Black" panose="020B0A04020102020204" pitchFamily="34" charset="0"/>
              </a:rPr>
              <a:t> </a:t>
            </a:r>
            <a:r>
              <a:rPr sz="2400" spc="413" dirty="0" smtClean="0">
                <a:latin typeface="Arial Black" panose="020B0A04020102020204" pitchFamily="34" charset="0"/>
              </a:rPr>
              <a:t>|</a:t>
            </a:r>
            <a:r>
              <a:rPr sz="2400" spc="-94" dirty="0" smtClean="0">
                <a:latin typeface="Arial Black" panose="020B0A04020102020204" pitchFamily="34" charset="0"/>
              </a:rPr>
              <a:t> </a:t>
            </a:r>
            <a:r>
              <a:rPr lang="en-US" sz="2400" spc="-101" dirty="0" smtClean="0">
                <a:latin typeface="Arial Black" panose="020B0A04020102020204" pitchFamily="34" charset="0"/>
              </a:rPr>
              <a:t>Phishing</a:t>
            </a:r>
            <a:endParaRPr sz="2400" spc="-101" dirty="0">
              <a:latin typeface="Arial Black" panose="020B0A04020102020204" pitchFamily="34" charset="0"/>
            </a:endParaRPr>
          </a:p>
        </p:txBody>
      </p:sp>
      <p:sp>
        <p:nvSpPr>
          <p:cNvPr id="148" name="object 3"/>
          <p:cNvSpPr txBox="1"/>
          <p:nvPr/>
        </p:nvSpPr>
        <p:spPr>
          <a:xfrm>
            <a:off x="638333" y="1305378"/>
            <a:ext cx="26542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Phishing trends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149" name="object 4"/>
          <p:cNvSpPr txBox="1"/>
          <p:nvPr/>
        </p:nvSpPr>
        <p:spPr>
          <a:xfrm>
            <a:off x="766685" y="1588705"/>
            <a:ext cx="7923447" cy="19721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 smtClean="0">
                <a:solidFill>
                  <a:srgbClr val="41273C"/>
                </a:solidFill>
                <a:cs typeface="Tahoma"/>
              </a:rPr>
              <a:t>80-95% of cyber attacks begin with a phish.</a:t>
            </a:r>
            <a:r>
              <a:rPr lang="en-US" sz="1200" spc="15" dirty="0" smtClean="0">
                <a:cs typeface="Calibri"/>
              </a:rPr>
              <a:t> (</a:t>
            </a:r>
            <a:r>
              <a:rPr lang="en-US" sz="1200" spc="15" dirty="0" err="1" smtClean="0">
                <a:cs typeface="Calibri"/>
                <a:hlinkClick r:id="rId2"/>
              </a:rPr>
              <a:t>Hoxhunt</a:t>
            </a:r>
            <a:r>
              <a:rPr lang="en-US" sz="1200" spc="15" dirty="0" smtClean="0">
                <a:cs typeface="Calibri"/>
                <a:hlinkClick r:id="rId2"/>
              </a:rPr>
              <a:t> Phishing Trends Report 2025</a:t>
            </a:r>
            <a:r>
              <a:rPr lang="en-US" sz="1200" spc="15" dirty="0" smtClean="0">
                <a:cs typeface="Calibri"/>
              </a:rPr>
              <a:t>).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$4.88M is the average cost of a phishing breach.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Phishing isn’t restricted to emails. Attackers adopting new vectors like:</a:t>
            </a:r>
          </a:p>
          <a:p>
            <a:pPr marL="595789" marR="264795" lvl="1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SMS – </a:t>
            </a:r>
            <a:r>
              <a:rPr lang="en-US" sz="1200" spc="15" dirty="0" err="1" smtClean="0">
                <a:cs typeface="Calibri"/>
              </a:rPr>
              <a:t>Smshing</a:t>
            </a:r>
            <a:endParaRPr lang="en-US" sz="1200" spc="15" dirty="0" smtClean="0">
              <a:cs typeface="Calibri"/>
            </a:endParaRPr>
          </a:p>
          <a:p>
            <a:pPr marL="595789" marR="264795" lvl="1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QR – </a:t>
            </a:r>
            <a:r>
              <a:rPr lang="en-US" sz="1200" spc="15" dirty="0" err="1" smtClean="0">
                <a:cs typeface="Calibri"/>
              </a:rPr>
              <a:t>Quishing</a:t>
            </a:r>
            <a:endParaRPr lang="en-US" sz="1200" spc="15" dirty="0" smtClean="0">
              <a:cs typeface="Calibri"/>
            </a:endParaRPr>
          </a:p>
          <a:p>
            <a:pPr marL="595789" marR="264795" lvl="1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Voice – </a:t>
            </a:r>
            <a:r>
              <a:rPr lang="en-US" sz="1200" spc="15" dirty="0" err="1" smtClean="0">
                <a:cs typeface="Calibri"/>
              </a:rPr>
              <a:t>Vishing</a:t>
            </a:r>
            <a:endParaRPr lang="en-US" sz="1200" spc="15" dirty="0" smtClean="0">
              <a:cs typeface="Calibri"/>
            </a:endParaRPr>
          </a:p>
          <a:p>
            <a:pPr marL="595789" marR="264795" lvl="1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And many more.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Attackers often use new domains and websites for every phishing campaign.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Brand impersonation on a all time high.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endParaRPr lang="en-US" sz="1200" spc="15" dirty="0" smtClean="0">
              <a:cs typeface="Calibri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029" y="3455308"/>
            <a:ext cx="3899940" cy="301379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78015" y="6469102"/>
            <a:ext cx="3587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22860" algn="ctr">
              <a:lnSpc>
                <a:spcPct val="100000"/>
              </a:lnSpc>
            </a:pPr>
            <a:r>
              <a:rPr lang="en-IN" b="1" spc="-20" dirty="0">
                <a:solidFill>
                  <a:srgbClr val="585858"/>
                </a:solidFill>
                <a:cs typeface="Calibri"/>
              </a:rPr>
              <a:t>MOST-TARGETED</a:t>
            </a:r>
            <a:r>
              <a:rPr lang="en-IN" b="1" spc="-50" dirty="0">
                <a:solidFill>
                  <a:srgbClr val="585858"/>
                </a:solidFill>
                <a:cs typeface="Calibri"/>
              </a:rPr>
              <a:t> </a:t>
            </a:r>
            <a:r>
              <a:rPr lang="en-IN" b="1" spc="-10" dirty="0">
                <a:solidFill>
                  <a:srgbClr val="585858"/>
                </a:solidFill>
                <a:cs typeface="Calibri"/>
              </a:rPr>
              <a:t>SECTORS, </a:t>
            </a:r>
            <a:r>
              <a:rPr lang="en-IN" b="1" dirty="0">
                <a:solidFill>
                  <a:srgbClr val="585858"/>
                </a:solidFill>
                <a:cs typeface="Calibri"/>
              </a:rPr>
              <a:t>Q4</a:t>
            </a:r>
            <a:r>
              <a:rPr lang="en-IN" b="1" spc="-30" dirty="0">
                <a:solidFill>
                  <a:srgbClr val="585858"/>
                </a:solidFill>
                <a:cs typeface="Calibri"/>
              </a:rPr>
              <a:t> </a:t>
            </a:r>
            <a:r>
              <a:rPr lang="en-IN" b="1" spc="-20" dirty="0">
                <a:solidFill>
                  <a:srgbClr val="585858"/>
                </a:solidFill>
                <a:cs typeface="Calibri"/>
              </a:rPr>
              <a:t>2024</a:t>
            </a:r>
            <a:endParaRPr lang="en-IN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078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8333" y="683587"/>
            <a:ext cx="805180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21431">
              <a:spcBef>
                <a:spcPts val="79"/>
              </a:spcBef>
            </a:pPr>
            <a:r>
              <a:rPr sz="2400" spc="-116" dirty="0">
                <a:latin typeface="Arial Black" panose="020B0A04020102020204" pitchFamily="34" charset="0"/>
              </a:rPr>
              <a:t>Threat</a:t>
            </a:r>
            <a:r>
              <a:rPr sz="2400" spc="-94" dirty="0">
                <a:latin typeface="Arial Black" panose="020B0A04020102020204" pitchFamily="34" charset="0"/>
              </a:rPr>
              <a:t> </a:t>
            </a:r>
            <a:r>
              <a:rPr sz="2400" spc="-127" dirty="0">
                <a:latin typeface="Arial Black" panose="020B0A04020102020204" pitchFamily="34" charset="0"/>
              </a:rPr>
              <a:t>vector</a:t>
            </a:r>
            <a:r>
              <a:rPr sz="2400" spc="-94" dirty="0">
                <a:latin typeface="Arial Black" panose="020B0A04020102020204" pitchFamily="34" charset="0"/>
              </a:rPr>
              <a:t> </a:t>
            </a:r>
            <a:r>
              <a:rPr sz="2400" spc="413" dirty="0" smtClean="0">
                <a:latin typeface="Arial Black" panose="020B0A04020102020204" pitchFamily="34" charset="0"/>
              </a:rPr>
              <a:t>|</a:t>
            </a:r>
            <a:r>
              <a:rPr sz="2400" spc="-94" dirty="0" smtClean="0">
                <a:latin typeface="Arial Black" panose="020B0A04020102020204" pitchFamily="34" charset="0"/>
              </a:rPr>
              <a:t> </a:t>
            </a:r>
            <a:r>
              <a:rPr sz="2400" spc="-101" dirty="0">
                <a:latin typeface="Arial Black" panose="020B0A04020102020204" pitchFamily="34" charset="0"/>
              </a:rPr>
              <a:t>Ransomware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95" y="1896708"/>
            <a:ext cx="26542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56" dirty="0">
                <a:solidFill>
                  <a:srgbClr val="85BB24"/>
                </a:solidFill>
                <a:latin typeface="Arial Black"/>
                <a:cs typeface="Arial Black"/>
              </a:rPr>
              <a:t>Ransomware</a:t>
            </a:r>
            <a:r>
              <a:rPr spc="-53" dirty="0">
                <a:solidFill>
                  <a:srgbClr val="85BB24"/>
                </a:solidFill>
                <a:latin typeface="Arial Black"/>
                <a:cs typeface="Arial Black"/>
              </a:rPr>
              <a:t> </a:t>
            </a:r>
            <a:r>
              <a:rPr spc="-23" dirty="0">
                <a:solidFill>
                  <a:srgbClr val="85BB24"/>
                </a:solidFill>
                <a:latin typeface="Arial Black"/>
                <a:cs typeface="Arial Black"/>
              </a:rPr>
              <a:t>trends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9951" y="2194846"/>
            <a:ext cx="5270182" cy="9719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sz="1200" spc="38" dirty="0" smtClean="0">
                <a:latin typeface="Calibri"/>
                <a:cs typeface="Calibri"/>
              </a:rPr>
              <a:t>17</a:t>
            </a:r>
            <a:r>
              <a:rPr lang="en-US" sz="1200" spc="38" dirty="0" smtClean="0">
                <a:latin typeface="Calibri"/>
                <a:cs typeface="Calibri"/>
              </a:rPr>
              <a:t>%</a:t>
            </a:r>
            <a:r>
              <a:rPr sz="1200" spc="75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percent</a:t>
            </a:r>
            <a:r>
              <a:rPr sz="1200" spc="30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increase</a:t>
            </a:r>
            <a:r>
              <a:rPr sz="1200" spc="45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in</a:t>
            </a:r>
            <a:r>
              <a:rPr sz="1200" spc="64" dirty="0" smtClean="0">
                <a:latin typeface="Calibri"/>
                <a:cs typeface="Calibri"/>
              </a:rPr>
              <a:t> </a:t>
            </a:r>
            <a:r>
              <a:rPr sz="1200" spc="15" dirty="0" err="1" smtClean="0">
                <a:latin typeface="Calibri"/>
                <a:cs typeface="Calibri"/>
              </a:rPr>
              <a:t>ransomware</a:t>
            </a:r>
            <a:r>
              <a:rPr sz="1200" spc="83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attack</a:t>
            </a:r>
            <a:r>
              <a:rPr sz="1200" spc="56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in</a:t>
            </a:r>
            <a:r>
              <a:rPr sz="1200" spc="60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2024</a:t>
            </a:r>
            <a:r>
              <a:rPr lang="en-US" sz="1200" spc="15" dirty="0" smtClean="0">
                <a:latin typeface="Calibri"/>
                <a:cs typeface="Calibri"/>
              </a:rPr>
              <a:t> (</a:t>
            </a:r>
            <a:r>
              <a:rPr lang="en-US" sz="1200" spc="15" dirty="0" smtClean="0">
                <a:latin typeface="Calibri"/>
                <a:cs typeface="Calibri"/>
                <a:hlinkClick r:id="rId2"/>
              </a:rPr>
              <a:t>Deloitte Global CTI Report 2024</a:t>
            </a:r>
            <a:r>
              <a:rPr lang="en-US" sz="1200" spc="15" dirty="0" smtClean="0">
                <a:latin typeface="Calibri"/>
                <a:cs typeface="Calibri"/>
              </a:rPr>
              <a:t>).</a:t>
            </a:r>
          </a:p>
          <a:p>
            <a:pPr marL="138589" marR="3810" indent="-129540">
              <a:spcBef>
                <a:spcPts val="150"/>
              </a:spcBef>
              <a:buFont typeface="Arial"/>
              <a:buChar char="•"/>
              <a:tabLst>
                <a:tab pos="138589" algn="l"/>
              </a:tabLst>
            </a:pPr>
            <a:r>
              <a:rPr sz="1200" dirty="0" smtClean="0">
                <a:latin typeface="Calibri"/>
                <a:cs typeface="Calibri"/>
              </a:rPr>
              <a:t>The</a:t>
            </a:r>
            <a:r>
              <a:rPr sz="1200" spc="184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most</a:t>
            </a:r>
            <a:r>
              <a:rPr sz="1200" spc="210" dirty="0" smtClean="0">
                <a:latin typeface="Calibri"/>
                <a:cs typeface="Calibri"/>
              </a:rPr>
              <a:t> </a:t>
            </a:r>
            <a:r>
              <a:rPr sz="1200" spc="38" dirty="0" smtClean="0">
                <a:latin typeface="Calibri"/>
                <a:cs typeface="Calibri"/>
              </a:rPr>
              <a:t>common</a:t>
            </a:r>
            <a:r>
              <a:rPr sz="1200" spc="199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root</a:t>
            </a:r>
            <a:r>
              <a:rPr sz="1200" spc="210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causes</a:t>
            </a:r>
            <a:r>
              <a:rPr sz="1200" spc="176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for</a:t>
            </a:r>
            <a:r>
              <a:rPr sz="1200" spc="191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successful</a:t>
            </a:r>
            <a:r>
              <a:rPr sz="1200" spc="139" dirty="0" smtClean="0">
                <a:latin typeface="Calibri"/>
                <a:cs typeface="Calibri"/>
              </a:rPr>
              <a:t> </a:t>
            </a:r>
            <a:r>
              <a:rPr sz="1200" dirty="0" err="1" smtClean="0">
                <a:latin typeface="Calibri"/>
                <a:cs typeface="Calibri"/>
              </a:rPr>
              <a:t>ransomware</a:t>
            </a:r>
            <a:r>
              <a:rPr sz="1200" spc="217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attacks</a:t>
            </a:r>
            <a:r>
              <a:rPr sz="1200" spc="191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were</a:t>
            </a:r>
            <a:r>
              <a:rPr sz="1200" spc="188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exploited</a:t>
            </a:r>
            <a:r>
              <a:rPr sz="1200" spc="143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vulnerabilities,</a:t>
            </a:r>
            <a:r>
              <a:rPr sz="1200" spc="131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compromised</a:t>
            </a:r>
            <a:r>
              <a:rPr sz="1200" spc="176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credentials,</a:t>
            </a:r>
            <a:r>
              <a:rPr sz="1200" spc="153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and</a:t>
            </a:r>
            <a:r>
              <a:rPr sz="1200" spc="176" dirty="0" smtClean="0">
                <a:latin typeface="Calibri"/>
                <a:cs typeface="Calibri"/>
              </a:rPr>
              <a:t> </a:t>
            </a:r>
            <a:r>
              <a:rPr sz="1200" dirty="0" smtClean="0">
                <a:latin typeface="Calibri"/>
                <a:cs typeface="Calibri"/>
              </a:rPr>
              <a:t>phishing</a:t>
            </a:r>
            <a:r>
              <a:rPr sz="1200" spc="139" dirty="0" smtClean="0">
                <a:latin typeface="Calibri"/>
                <a:cs typeface="Calibri"/>
              </a:rPr>
              <a:t> </a:t>
            </a:r>
            <a:r>
              <a:rPr sz="1200" spc="-8" dirty="0" smtClean="0">
                <a:latin typeface="Calibri"/>
                <a:cs typeface="Calibri"/>
              </a:rPr>
              <a:t>attacks.</a:t>
            </a:r>
            <a:endParaRPr sz="1200" dirty="0" smtClean="0">
              <a:latin typeface="Calibri"/>
              <a:cs typeface="Calibri"/>
            </a:endParaRPr>
          </a:p>
          <a:p>
            <a:pPr marL="138589" indent="-129064">
              <a:spcBef>
                <a:spcPts val="143"/>
              </a:spcBef>
              <a:buFont typeface="Arial"/>
              <a:buChar char="•"/>
              <a:tabLst>
                <a:tab pos="138589" algn="l"/>
              </a:tabLst>
            </a:pPr>
            <a:r>
              <a:rPr sz="1200" spc="15" dirty="0" smtClean="0">
                <a:latin typeface="Calibri"/>
                <a:cs typeface="Calibri"/>
              </a:rPr>
              <a:t>The</a:t>
            </a:r>
            <a:r>
              <a:rPr sz="1200" spc="71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average</a:t>
            </a:r>
            <a:r>
              <a:rPr sz="1200" spc="56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cost</a:t>
            </a:r>
            <a:r>
              <a:rPr sz="1200" spc="75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of</a:t>
            </a:r>
            <a:r>
              <a:rPr sz="1200" spc="75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a</a:t>
            </a:r>
            <a:r>
              <a:rPr sz="1200" spc="75" dirty="0" smtClean="0">
                <a:latin typeface="Calibri"/>
                <a:cs typeface="Calibri"/>
              </a:rPr>
              <a:t> </a:t>
            </a:r>
            <a:r>
              <a:rPr sz="1200" spc="15" dirty="0" err="1" smtClean="0">
                <a:latin typeface="Calibri"/>
                <a:cs typeface="Calibri"/>
              </a:rPr>
              <a:t>ransomware</a:t>
            </a:r>
            <a:r>
              <a:rPr sz="1200" spc="94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data</a:t>
            </a:r>
            <a:r>
              <a:rPr sz="1200" spc="71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breach</a:t>
            </a:r>
            <a:r>
              <a:rPr sz="1200" spc="64" dirty="0" smtClean="0">
                <a:latin typeface="Calibri"/>
                <a:cs typeface="Calibri"/>
              </a:rPr>
              <a:t> </a:t>
            </a:r>
            <a:r>
              <a:rPr sz="1200" spc="15" dirty="0" smtClean="0">
                <a:latin typeface="Calibri"/>
                <a:cs typeface="Calibri"/>
              </a:rPr>
              <a:t>reached</a:t>
            </a:r>
            <a:r>
              <a:rPr sz="1200" spc="49" dirty="0" smtClean="0">
                <a:latin typeface="Calibri"/>
                <a:cs typeface="Calibri"/>
              </a:rPr>
              <a:t> </a:t>
            </a:r>
            <a:r>
              <a:rPr sz="1200" spc="34" dirty="0" smtClean="0">
                <a:latin typeface="Calibri"/>
                <a:cs typeface="Calibri"/>
              </a:rPr>
              <a:t>US$4.91</a:t>
            </a:r>
            <a:r>
              <a:rPr sz="1200" spc="86" dirty="0" smtClean="0">
                <a:latin typeface="Calibri"/>
                <a:cs typeface="Calibri"/>
              </a:rPr>
              <a:t> </a:t>
            </a:r>
            <a:r>
              <a:rPr sz="1200" spc="-8" dirty="0" smtClean="0">
                <a:latin typeface="Calibri"/>
                <a:cs typeface="Calibri"/>
              </a:rPr>
              <a:t>million.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9951" y="3834572"/>
            <a:ext cx="24764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94" dirty="0" err="1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RaaS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46542" y="4218622"/>
            <a:ext cx="5273516" cy="116891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8589" marR="4763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 err="1">
                <a:cs typeface="Calibri"/>
              </a:rPr>
              <a:t>Ransomware</a:t>
            </a:r>
            <a:r>
              <a:rPr lang="en-US" sz="1200" dirty="0">
                <a:cs typeface="Calibri"/>
              </a:rPr>
              <a:t>-as-a-Service is a business model </a:t>
            </a:r>
            <a:r>
              <a:rPr lang="en-US" sz="1200" dirty="0" smtClean="0">
                <a:cs typeface="Calibri"/>
              </a:rPr>
              <a:t>between </a:t>
            </a:r>
            <a:r>
              <a:rPr lang="en-US" sz="1200" dirty="0">
                <a:cs typeface="Calibri"/>
              </a:rPr>
              <a:t>operators and affiliates in which affiliates pay to launch </a:t>
            </a:r>
            <a:r>
              <a:rPr lang="en-US" sz="1200" dirty="0" err="1">
                <a:cs typeface="Calibri"/>
              </a:rPr>
              <a:t>ransomware</a:t>
            </a:r>
            <a:r>
              <a:rPr lang="en-US" sz="1200" dirty="0">
                <a:cs typeface="Calibri"/>
              </a:rPr>
              <a:t> attacks developed by operators.</a:t>
            </a:r>
            <a:endParaRPr sz="1200" dirty="0">
              <a:cs typeface="Calibri"/>
            </a:endParaRPr>
          </a:p>
          <a:p>
            <a:pPr marL="138589" marR="74771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r>
              <a:rPr sz="1200" spc="15" dirty="0" smtClean="0">
                <a:cs typeface="Calibri"/>
              </a:rPr>
              <a:t>The</a:t>
            </a:r>
            <a:r>
              <a:rPr sz="1200" spc="71" dirty="0" smtClean="0">
                <a:cs typeface="Calibri"/>
              </a:rPr>
              <a:t> </a:t>
            </a:r>
            <a:r>
              <a:rPr sz="1200" spc="15" dirty="0">
                <a:cs typeface="Calibri"/>
              </a:rPr>
              <a:t>prevalence</a:t>
            </a:r>
            <a:r>
              <a:rPr sz="1200" spc="68" dirty="0">
                <a:cs typeface="Calibri"/>
              </a:rPr>
              <a:t> </a:t>
            </a:r>
            <a:r>
              <a:rPr sz="1200" spc="15" dirty="0">
                <a:cs typeface="Calibri"/>
              </a:rPr>
              <a:t>of</a:t>
            </a:r>
            <a:r>
              <a:rPr sz="1200" spc="53" dirty="0">
                <a:cs typeface="Calibri"/>
              </a:rPr>
              <a:t> </a:t>
            </a:r>
            <a:r>
              <a:rPr sz="1200" spc="15" dirty="0">
                <a:cs typeface="Calibri"/>
              </a:rPr>
              <a:t>the</a:t>
            </a:r>
            <a:r>
              <a:rPr sz="1200" spc="75" dirty="0">
                <a:cs typeface="Calibri"/>
              </a:rPr>
              <a:t> </a:t>
            </a:r>
            <a:r>
              <a:rPr sz="1200" spc="15" dirty="0">
                <a:cs typeface="Calibri"/>
              </a:rPr>
              <a:t>RaaS</a:t>
            </a:r>
            <a:r>
              <a:rPr sz="1200" spc="75" dirty="0">
                <a:cs typeface="Calibri"/>
              </a:rPr>
              <a:t> </a:t>
            </a:r>
            <a:r>
              <a:rPr sz="1200" spc="15" dirty="0">
                <a:cs typeface="Calibri"/>
              </a:rPr>
              <a:t>model</a:t>
            </a:r>
            <a:r>
              <a:rPr sz="1200" spc="79" dirty="0">
                <a:cs typeface="Calibri"/>
              </a:rPr>
              <a:t> </a:t>
            </a:r>
            <a:r>
              <a:rPr sz="1200" spc="15" dirty="0">
                <a:cs typeface="Calibri"/>
              </a:rPr>
              <a:t>has</a:t>
            </a:r>
            <a:r>
              <a:rPr sz="1200" spc="71" dirty="0">
                <a:cs typeface="Calibri"/>
              </a:rPr>
              <a:t> </a:t>
            </a:r>
            <a:r>
              <a:rPr sz="1200" spc="15" dirty="0">
                <a:cs typeface="Calibri"/>
              </a:rPr>
              <a:t>significantly</a:t>
            </a:r>
            <a:r>
              <a:rPr sz="1200" spc="56" dirty="0">
                <a:cs typeface="Calibri"/>
              </a:rPr>
              <a:t> </a:t>
            </a:r>
            <a:r>
              <a:rPr sz="1200" spc="15" dirty="0">
                <a:cs typeface="Calibri"/>
              </a:rPr>
              <a:t>increased</a:t>
            </a:r>
            <a:r>
              <a:rPr sz="1200" spc="60" dirty="0">
                <a:cs typeface="Calibri"/>
              </a:rPr>
              <a:t> </a:t>
            </a:r>
            <a:r>
              <a:rPr sz="1200" spc="15" dirty="0">
                <a:cs typeface="Calibri"/>
              </a:rPr>
              <a:t>the</a:t>
            </a:r>
            <a:r>
              <a:rPr sz="1200" spc="49" dirty="0">
                <a:cs typeface="Calibri"/>
              </a:rPr>
              <a:t> </a:t>
            </a:r>
            <a:r>
              <a:rPr sz="1200" spc="15" dirty="0">
                <a:cs typeface="Calibri"/>
              </a:rPr>
              <a:t>frequency,</a:t>
            </a:r>
            <a:r>
              <a:rPr sz="1200" spc="38" dirty="0">
                <a:cs typeface="Calibri"/>
              </a:rPr>
              <a:t> </a:t>
            </a:r>
            <a:r>
              <a:rPr sz="1200" spc="15" dirty="0">
                <a:cs typeface="Calibri"/>
              </a:rPr>
              <a:t>destructiveness,</a:t>
            </a:r>
            <a:r>
              <a:rPr sz="1200" spc="56" dirty="0">
                <a:cs typeface="Calibri"/>
              </a:rPr>
              <a:t> </a:t>
            </a:r>
            <a:r>
              <a:rPr sz="1200" spc="15" dirty="0">
                <a:cs typeface="Calibri"/>
              </a:rPr>
              <a:t>and</a:t>
            </a:r>
            <a:r>
              <a:rPr sz="1200" spc="68" dirty="0">
                <a:cs typeface="Calibri"/>
              </a:rPr>
              <a:t> </a:t>
            </a:r>
            <a:r>
              <a:rPr sz="1200" spc="15" dirty="0">
                <a:cs typeface="Calibri"/>
              </a:rPr>
              <a:t>complexity</a:t>
            </a:r>
            <a:r>
              <a:rPr sz="1200" spc="60" dirty="0">
                <a:cs typeface="Calibri"/>
              </a:rPr>
              <a:t> </a:t>
            </a:r>
            <a:r>
              <a:rPr sz="1200" spc="15" dirty="0">
                <a:cs typeface="Calibri"/>
              </a:rPr>
              <a:t>of</a:t>
            </a:r>
            <a:r>
              <a:rPr sz="1200" spc="79" dirty="0">
                <a:cs typeface="Calibri"/>
              </a:rPr>
              <a:t> </a:t>
            </a:r>
            <a:r>
              <a:rPr sz="1200" spc="15" dirty="0" err="1">
                <a:cs typeface="Calibri"/>
              </a:rPr>
              <a:t>ransomware</a:t>
            </a:r>
            <a:r>
              <a:rPr sz="1200" spc="98" dirty="0">
                <a:cs typeface="Calibri"/>
              </a:rPr>
              <a:t> </a:t>
            </a:r>
            <a:r>
              <a:rPr lang="en-US" sz="1200" spc="15" dirty="0" smtClean="0">
                <a:cs typeface="Calibri"/>
              </a:rPr>
              <a:t>attacks</a:t>
            </a:r>
            <a:r>
              <a:rPr sz="1200" spc="15" dirty="0" smtClean="0">
                <a:cs typeface="Calibri"/>
              </a:rPr>
              <a:t>.</a:t>
            </a:r>
            <a:endParaRPr sz="1200" dirty="0">
              <a:cs typeface="Calibri"/>
            </a:endParaRPr>
          </a:p>
          <a:p>
            <a:pPr marL="138589" marR="59531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r>
              <a:rPr sz="1200" spc="15" dirty="0">
                <a:cs typeface="Calibri"/>
              </a:rPr>
              <a:t>Many</a:t>
            </a:r>
            <a:r>
              <a:rPr sz="1200" spc="38" dirty="0">
                <a:cs typeface="Calibri"/>
              </a:rPr>
              <a:t> </a:t>
            </a:r>
            <a:r>
              <a:rPr sz="1200" spc="8" dirty="0">
                <a:cs typeface="Calibri"/>
              </a:rPr>
              <a:t>politically-</a:t>
            </a:r>
            <a:r>
              <a:rPr sz="1200" spc="15" dirty="0">
                <a:cs typeface="Calibri"/>
              </a:rPr>
              <a:t>motivated</a:t>
            </a:r>
            <a:r>
              <a:rPr sz="1200" spc="34" dirty="0">
                <a:cs typeface="Calibri"/>
              </a:rPr>
              <a:t> </a:t>
            </a:r>
            <a:r>
              <a:rPr sz="1200" spc="15" dirty="0">
                <a:cs typeface="Calibri"/>
              </a:rPr>
              <a:t>threat</a:t>
            </a:r>
            <a:r>
              <a:rPr sz="1200" spc="45" dirty="0">
                <a:cs typeface="Calibri"/>
              </a:rPr>
              <a:t> </a:t>
            </a:r>
            <a:r>
              <a:rPr sz="1200" spc="15" dirty="0">
                <a:cs typeface="Calibri"/>
              </a:rPr>
              <a:t>groups</a:t>
            </a:r>
            <a:r>
              <a:rPr sz="1200" spc="49" dirty="0">
                <a:cs typeface="Calibri"/>
              </a:rPr>
              <a:t> </a:t>
            </a:r>
            <a:r>
              <a:rPr sz="1200" spc="15" dirty="0">
                <a:cs typeface="Calibri"/>
              </a:rPr>
              <a:t>have</a:t>
            </a:r>
            <a:r>
              <a:rPr sz="1200" spc="41" dirty="0">
                <a:cs typeface="Calibri"/>
              </a:rPr>
              <a:t> </a:t>
            </a:r>
            <a:r>
              <a:rPr sz="1200" spc="15" dirty="0">
                <a:cs typeface="Calibri"/>
              </a:rPr>
              <a:t>been</a:t>
            </a:r>
            <a:r>
              <a:rPr sz="1200" spc="45" dirty="0">
                <a:cs typeface="Calibri"/>
              </a:rPr>
              <a:t> </a:t>
            </a:r>
            <a:r>
              <a:rPr sz="1200" spc="15" dirty="0">
                <a:cs typeface="Calibri"/>
              </a:rPr>
              <a:t>utilizing</a:t>
            </a:r>
            <a:r>
              <a:rPr sz="1200" spc="26" dirty="0">
                <a:cs typeface="Calibri"/>
              </a:rPr>
              <a:t> </a:t>
            </a:r>
            <a:r>
              <a:rPr sz="1200" spc="15" dirty="0">
                <a:cs typeface="Calibri"/>
              </a:rPr>
              <a:t>RaaS</a:t>
            </a:r>
            <a:r>
              <a:rPr sz="1200" spc="53" dirty="0">
                <a:cs typeface="Calibri"/>
              </a:rPr>
              <a:t> </a:t>
            </a:r>
            <a:r>
              <a:rPr sz="1200" spc="15" dirty="0">
                <a:cs typeface="Calibri"/>
              </a:rPr>
              <a:t>in</a:t>
            </a:r>
            <a:r>
              <a:rPr sz="1200" spc="56" dirty="0">
                <a:cs typeface="Calibri"/>
              </a:rPr>
              <a:t> </a:t>
            </a:r>
            <a:r>
              <a:rPr sz="1200" spc="15" dirty="0">
                <a:cs typeface="Calibri"/>
              </a:rPr>
              <a:t>their</a:t>
            </a:r>
            <a:r>
              <a:rPr sz="1200" spc="34" dirty="0">
                <a:cs typeface="Calibri"/>
              </a:rPr>
              <a:t> </a:t>
            </a:r>
            <a:r>
              <a:rPr sz="1200" spc="15" dirty="0">
                <a:cs typeface="Calibri"/>
              </a:rPr>
              <a:t>operations</a:t>
            </a:r>
            <a:r>
              <a:rPr sz="1200" spc="15" dirty="0" smtClean="0">
                <a:cs typeface="Calibri"/>
              </a:rPr>
              <a:t>.</a:t>
            </a:r>
            <a:endParaRPr sz="1200" dirty="0"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98830" y="2536317"/>
            <a:ext cx="2476976" cy="814864"/>
            <a:chOff x="931773" y="2238755"/>
            <a:chExt cx="3302635" cy="1086485"/>
          </a:xfrm>
        </p:grpSpPr>
        <p:sp>
          <p:nvSpPr>
            <p:cNvPr id="8" name="object 8"/>
            <p:cNvSpPr/>
            <p:nvPr/>
          </p:nvSpPr>
          <p:spPr>
            <a:xfrm>
              <a:off x="936536" y="2368295"/>
              <a:ext cx="3293110" cy="741045"/>
            </a:xfrm>
            <a:custGeom>
              <a:avLst/>
              <a:gdLst/>
              <a:ahLst/>
              <a:cxnLst/>
              <a:rect l="l" t="t" r="r" b="b"/>
              <a:pathLst>
                <a:path w="3293110" h="741044">
                  <a:moveTo>
                    <a:pt x="2149563" y="740663"/>
                  </a:moveTo>
                  <a:lnTo>
                    <a:pt x="2241003" y="740663"/>
                  </a:lnTo>
                </a:path>
                <a:path w="3293110" h="741044">
                  <a:moveTo>
                    <a:pt x="3246843" y="740663"/>
                  </a:moveTo>
                  <a:lnTo>
                    <a:pt x="3292563" y="740663"/>
                  </a:lnTo>
                </a:path>
                <a:path w="3293110" h="741044">
                  <a:moveTo>
                    <a:pt x="0" y="740663"/>
                  </a:moveTo>
                  <a:lnTo>
                    <a:pt x="46443" y="740663"/>
                  </a:lnTo>
                </a:path>
                <a:path w="3293110" h="741044">
                  <a:moveTo>
                    <a:pt x="503643" y="740663"/>
                  </a:moveTo>
                  <a:lnTo>
                    <a:pt x="595083" y="740663"/>
                  </a:lnTo>
                </a:path>
                <a:path w="3293110" h="741044">
                  <a:moveTo>
                    <a:pt x="1052283" y="740663"/>
                  </a:moveTo>
                  <a:lnTo>
                    <a:pt x="1143723" y="740663"/>
                  </a:lnTo>
                </a:path>
                <a:path w="3293110" h="741044">
                  <a:moveTo>
                    <a:pt x="777963" y="740663"/>
                  </a:moveTo>
                  <a:lnTo>
                    <a:pt x="869403" y="740663"/>
                  </a:lnTo>
                </a:path>
                <a:path w="3293110" h="741044">
                  <a:moveTo>
                    <a:pt x="1600923" y="740663"/>
                  </a:moveTo>
                  <a:lnTo>
                    <a:pt x="1692363" y="740663"/>
                  </a:lnTo>
                </a:path>
                <a:path w="3293110" h="741044">
                  <a:moveTo>
                    <a:pt x="1875243" y="740663"/>
                  </a:moveTo>
                  <a:lnTo>
                    <a:pt x="1966683" y="740663"/>
                  </a:lnTo>
                </a:path>
                <a:path w="3293110" h="741044">
                  <a:moveTo>
                    <a:pt x="2698203" y="740663"/>
                  </a:moveTo>
                  <a:lnTo>
                    <a:pt x="2789643" y="740663"/>
                  </a:lnTo>
                </a:path>
                <a:path w="3293110" h="741044">
                  <a:moveTo>
                    <a:pt x="2972523" y="740663"/>
                  </a:moveTo>
                  <a:lnTo>
                    <a:pt x="3063963" y="740663"/>
                  </a:lnTo>
                </a:path>
                <a:path w="3293110" h="741044">
                  <a:moveTo>
                    <a:pt x="2423883" y="740663"/>
                  </a:moveTo>
                  <a:lnTo>
                    <a:pt x="2515323" y="740663"/>
                  </a:lnTo>
                </a:path>
                <a:path w="3293110" h="741044">
                  <a:moveTo>
                    <a:pt x="1326603" y="740663"/>
                  </a:moveTo>
                  <a:lnTo>
                    <a:pt x="1418043" y="740663"/>
                  </a:lnTo>
                </a:path>
                <a:path w="3293110" h="741044">
                  <a:moveTo>
                    <a:pt x="229323" y="740663"/>
                  </a:moveTo>
                  <a:lnTo>
                    <a:pt x="320763" y="740663"/>
                  </a:lnTo>
                </a:path>
                <a:path w="3293110" h="741044">
                  <a:moveTo>
                    <a:pt x="0" y="554736"/>
                  </a:moveTo>
                  <a:lnTo>
                    <a:pt x="137883" y="554736"/>
                  </a:lnTo>
                </a:path>
                <a:path w="3293110" h="741044">
                  <a:moveTo>
                    <a:pt x="2423883" y="554736"/>
                  </a:moveTo>
                  <a:lnTo>
                    <a:pt x="2515323" y="554736"/>
                  </a:lnTo>
                </a:path>
                <a:path w="3293110" h="741044">
                  <a:moveTo>
                    <a:pt x="1600923" y="554736"/>
                  </a:moveTo>
                  <a:lnTo>
                    <a:pt x="1692363" y="554736"/>
                  </a:lnTo>
                </a:path>
                <a:path w="3293110" h="741044">
                  <a:moveTo>
                    <a:pt x="2698203" y="554736"/>
                  </a:moveTo>
                  <a:lnTo>
                    <a:pt x="2789643" y="554736"/>
                  </a:lnTo>
                </a:path>
                <a:path w="3293110" h="741044">
                  <a:moveTo>
                    <a:pt x="229323" y="554736"/>
                  </a:moveTo>
                  <a:lnTo>
                    <a:pt x="320763" y="554736"/>
                  </a:lnTo>
                </a:path>
                <a:path w="3293110" h="741044">
                  <a:moveTo>
                    <a:pt x="1875243" y="554736"/>
                  </a:moveTo>
                  <a:lnTo>
                    <a:pt x="1966683" y="554736"/>
                  </a:lnTo>
                </a:path>
                <a:path w="3293110" h="741044">
                  <a:moveTo>
                    <a:pt x="2972523" y="554736"/>
                  </a:moveTo>
                  <a:lnTo>
                    <a:pt x="3063963" y="554736"/>
                  </a:lnTo>
                </a:path>
                <a:path w="3293110" h="741044">
                  <a:moveTo>
                    <a:pt x="1052283" y="554736"/>
                  </a:moveTo>
                  <a:lnTo>
                    <a:pt x="1143723" y="554736"/>
                  </a:lnTo>
                </a:path>
                <a:path w="3293110" h="741044">
                  <a:moveTo>
                    <a:pt x="1326603" y="554736"/>
                  </a:moveTo>
                  <a:lnTo>
                    <a:pt x="1418043" y="554736"/>
                  </a:lnTo>
                </a:path>
                <a:path w="3293110" h="741044">
                  <a:moveTo>
                    <a:pt x="2149563" y="554736"/>
                  </a:moveTo>
                  <a:lnTo>
                    <a:pt x="2241003" y="554736"/>
                  </a:lnTo>
                </a:path>
                <a:path w="3293110" h="741044">
                  <a:moveTo>
                    <a:pt x="503643" y="554736"/>
                  </a:moveTo>
                  <a:lnTo>
                    <a:pt x="595083" y="554736"/>
                  </a:lnTo>
                </a:path>
                <a:path w="3293110" h="741044">
                  <a:moveTo>
                    <a:pt x="3246843" y="554736"/>
                  </a:moveTo>
                  <a:lnTo>
                    <a:pt x="3292563" y="554736"/>
                  </a:lnTo>
                </a:path>
                <a:path w="3293110" h="741044">
                  <a:moveTo>
                    <a:pt x="777963" y="554736"/>
                  </a:moveTo>
                  <a:lnTo>
                    <a:pt x="869403" y="554736"/>
                  </a:lnTo>
                </a:path>
                <a:path w="3293110" h="741044">
                  <a:moveTo>
                    <a:pt x="1326603" y="370331"/>
                  </a:moveTo>
                  <a:lnTo>
                    <a:pt x="1418043" y="370331"/>
                  </a:lnTo>
                </a:path>
                <a:path w="3293110" h="741044">
                  <a:moveTo>
                    <a:pt x="3246843" y="370331"/>
                  </a:moveTo>
                  <a:lnTo>
                    <a:pt x="3292563" y="370331"/>
                  </a:lnTo>
                </a:path>
                <a:path w="3293110" h="741044">
                  <a:moveTo>
                    <a:pt x="1052283" y="370331"/>
                  </a:moveTo>
                  <a:lnTo>
                    <a:pt x="1143723" y="370331"/>
                  </a:lnTo>
                </a:path>
                <a:path w="3293110" h="741044">
                  <a:moveTo>
                    <a:pt x="2972523" y="370331"/>
                  </a:moveTo>
                  <a:lnTo>
                    <a:pt x="3063963" y="370331"/>
                  </a:lnTo>
                </a:path>
                <a:path w="3293110" h="741044">
                  <a:moveTo>
                    <a:pt x="777963" y="370331"/>
                  </a:moveTo>
                  <a:lnTo>
                    <a:pt x="869403" y="370331"/>
                  </a:lnTo>
                </a:path>
                <a:path w="3293110" h="741044">
                  <a:moveTo>
                    <a:pt x="2423883" y="370331"/>
                  </a:moveTo>
                  <a:lnTo>
                    <a:pt x="2515323" y="370331"/>
                  </a:lnTo>
                </a:path>
                <a:path w="3293110" h="741044">
                  <a:moveTo>
                    <a:pt x="1600923" y="370331"/>
                  </a:moveTo>
                  <a:lnTo>
                    <a:pt x="1692363" y="370331"/>
                  </a:lnTo>
                </a:path>
                <a:path w="3293110" h="741044">
                  <a:moveTo>
                    <a:pt x="1875243" y="370331"/>
                  </a:moveTo>
                  <a:lnTo>
                    <a:pt x="1966683" y="370331"/>
                  </a:lnTo>
                </a:path>
                <a:path w="3293110" h="741044">
                  <a:moveTo>
                    <a:pt x="2698203" y="370331"/>
                  </a:moveTo>
                  <a:lnTo>
                    <a:pt x="2789643" y="370331"/>
                  </a:lnTo>
                </a:path>
                <a:path w="3293110" h="741044">
                  <a:moveTo>
                    <a:pt x="2149563" y="370331"/>
                  </a:moveTo>
                  <a:lnTo>
                    <a:pt x="2241003" y="370331"/>
                  </a:lnTo>
                </a:path>
                <a:path w="3293110" h="741044">
                  <a:moveTo>
                    <a:pt x="0" y="370331"/>
                  </a:moveTo>
                  <a:lnTo>
                    <a:pt x="595083" y="370331"/>
                  </a:lnTo>
                </a:path>
                <a:path w="3293110" h="741044">
                  <a:moveTo>
                    <a:pt x="3246843" y="185927"/>
                  </a:moveTo>
                  <a:lnTo>
                    <a:pt x="3292563" y="185927"/>
                  </a:lnTo>
                </a:path>
                <a:path w="3293110" h="741044">
                  <a:moveTo>
                    <a:pt x="686523" y="185927"/>
                  </a:moveTo>
                  <a:lnTo>
                    <a:pt x="1235163" y="185927"/>
                  </a:lnTo>
                </a:path>
                <a:path w="3293110" h="741044">
                  <a:moveTo>
                    <a:pt x="2698203" y="185927"/>
                  </a:moveTo>
                  <a:lnTo>
                    <a:pt x="2881083" y="185927"/>
                  </a:lnTo>
                </a:path>
                <a:path w="3293110" h="741044">
                  <a:moveTo>
                    <a:pt x="2972523" y="185927"/>
                  </a:moveTo>
                  <a:lnTo>
                    <a:pt x="3155403" y="185927"/>
                  </a:lnTo>
                </a:path>
                <a:path w="3293110" h="741044">
                  <a:moveTo>
                    <a:pt x="2149563" y="185927"/>
                  </a:moveTo>
                  <a:lnTo>
                    <a:pt x="2606763" y="185927"/>
                  </a:lnTo>
                </a:path>
                <a:path w="3293110" h="741044">
                  <a:moveTo>
                    <a:pt x="0" y="185927"/>
                  </a:moveTo>
                  <a:lnTo>
                    <a:pt x="595083" y="185927"/>
                  </a:lnTo>
                </a:path>
                <a:path w="3293110" h="741044">
                  <a:moveTo>
                    <a:pt x="1326603" y="185927"/>
                  </a:moveTo>
                  <a:lnTo>
                    <a:pt x="1783803" y="185927"/>
                  </a:lnTo>
                </a:path>
                <a:path w="3293110" h="741044">
                  <a:moveTo>
                    <a:pt x="1875243" y="185927"/>
                  </a:moveTo>
                  <a:lnTo>
                    <a:pt x="2058123" y="185927"/>
                  </a:lnTo>
                </a:path>
                <a:path w="3293110" h="741044">
                  <a:moveTo>
                    <a:pt x="3246843" y="0"/>
                  </a:moveTo>
                  <a:lnTo>
                    <a:pt x="3292563" y="0"/>
                  </a:lnTo>
                </a:path>
                <a:path w="3293110" h="741044">
                  <a:moveTo>
                    <a:pt x="2698203" y="0"/>
                  </a:moveTo>
                  <a:lnTo>
                    <a:pt x="2881083" y="0"/>
                  </a:lnTo>
                </a:path>
                <a:path w="3293110" h="741044">
                  <a:moveTo>
                    <a:pt x="0" y="0"/>
                  </a:moveTo>
                  <a:lnTo>
                    <a:pt x="2606763" y="0"/>
                  </a:lnTo>
                </a:path>
                <a:path w="3293110" h="741044">
                  <a:moveTo>
                    <a:pt x="2972523" y="0"/>
                  </a:moveTo>
                  <a:lnTo>
                    <a:pt x="3155403" y="0"/>
                  </a:lnTo>
                </a:path>
              </a:pathLst>
            </a:custGeom>
            <a:ln w="3175">
              <a:solidFill>
                <a:srgbClr val="A7A7A7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9"/>
            <p:cNvSpPr/>
            <p:nvPr/>
          </p:nvSpPr>
          <p:spPr>
            <a:xfrm>
              <a:off x="982980" y="2546603"/>
              <a:ext cx="3108960" cy="747395"/>
            </a:xfrm>
            <a:custGeom>
              <a:avLst/>
              <a:gdLst/>
              <a:ahLst/>
              <a:cxnLst/>
              <a:rect l="l" t="t" r="r" b="b"/>
              <a:pathLst>
                <a:path w="3108960" h="747395">
                  <a:moveTo>
                    <a:pt x="91440" y="419100"/>
                  </a:moveTo>
                  <a:lnTo>
                    <a:pt x="0" y="419100"/>
                  </a:lnTo>
                  <a:lnTo>
                    <a:pt x="0" y="747014"/>
                  </a:lnTo>
                  <a:lnTo>
                    <a:pt x="91440" y="747014"/>
                  </a:lnTo>
                  <a:lnTo>
                    <a:pt x="91440" y="419100"/>
                  </a:lnTo>
                  <a:close/>
                </a:path>
                <a:path w="3108960" h="747395">
                  <a:moveTo>
                    <a:pt x="365760" y="301752"/>
                  </a:moveTo>
                  <a:lnTo>
                    <a:pt x="274320" y="301752"/>
                  </a:lnTo>
                  <a:lnTo>
                    <a:pt x="274320" y="747014"/>
                  </a:lnTo>
                  <a:lnTo>
                    <a:pt x="365760" y="747014"/>
                  </a:lnTo>
                  <a:lnTo>
                    <a:pt x="365760" y="301752"/>
                  </a:lnTo>
                  <a:close/>
                </a:path>
                <a:path w="3108960" h="747395">
                  <a:moveTo>
                    <a:pt x="640080" y="0"/>
                  </a:moveTo>
                  <a:lnTo>
                    <a:pt x="548640" y="0"/>
                  </a:lnTo>
                  <a:lnTo>
                    <a:pt x="548640" y="747014"/>
                  </a:lnTo>
                  <a:lnTo>
                    <a:pt x="640080" y="747014"/>
                  </a:lnTo>
                  <a:lnTo>
                    <a:pt x="640080" y="0"/>
                  </a:lnTo>
                  <a:close/>
                </a:path>
                <a:path w="3108960" h="747395">
                  <a:moveTo>
                    <a:pt x="914400" y="176784"/>
                  </a:moveTo>
                  <a:lnTo>
                    <a:pt x="822960" y="176784"/>
                  </a:lnTo>
                  <a:lnTo>
                    <a:pt x="822960" y="747014"/>
                  </a:lnTo>
                  <a:lnTo>
                    <a:pt x="914400" y="747014"/>
                  </a:lnTo>
                  <a:lnTo>
                    <a:pt x="914400" y="176784"/>
                  </a:lnTo>
                  <a:close/>
                </a:path>
                <a:path w="3108960" h="747395">
                  <a:moveTo>
                    <a:pt x="1188720" y="30480"/>
                  </a:moveTo>
                  <a:lnTo>
                    <a:pt x="1097280" y="30480"/>
                  </a:lnTo>
                  <a:lnTo>
                    <a:pt x="1097280" y="747014"/>
                  </a:lnTo>
                  <a:lnTo>
                    <a:pt x="1188720" y="747014"/>
                  </a:lnTo>
                  <a:lnTo>
                    <a:pt x="1188720" y="30480"/>
                  </a:lnTo>
                  <a:close/>
                </a:path>
                <a:path w="3108960" h="747395">
                  <a:moveTo>
                    <a:pt x="1463040" y="53340"/>
                  </a:moveTo>
                  <a:lnTo>
                    <a:pt x="1371600" y="53340"/>
                  </a:lnTo>
                  <a:lnTo>
                    <a:pt x="1371600" y="747014"/>
                  </a:lnTo>
                  <a:lnTo>
                    <a:pt x="1463040" y="747014"/>
                  </a:lnTo>
                  <a:lnTo>
                    <a:pt x="1463040" y="53340"/>
                  </a:lnTo>
                  <a:close/>
                </a:path>
                <a:path w="3108960" h="747395">
                  <a:moveTo>
                    <a:pt x="1737360" y="64008"/>
                  </a:moveTo>
                  <a:lnTo>
                    <a:pt x="1645920" y="64008"/>
                  </a:lnTo>
                  <a:lnTo>
                    <a:pt x="1645920" y="747014"/>
                  </a:lnTo>
                  <a:lnTo>
                    <a:pt x="1737360" y="747014"/>
                  </a:lnTo>
                  <a:lnTo>
                    <a:pt x="1737360" y="64008"/>
                  </a:lnTo>
                  <a:close/>
                </a:path>
                <a:path w="3108960" h="747395">
                  <a:moveTo>
                    <a:pt x="2011680" y="64008"/>
                  </a:moveTo>
                  <a:lnTo>
                    <a:pt x="1920240" y="64008"/>
                  </a:lnTo>
                  <a:lnTo>
                    <a:pt x="1920240" y="747014"/>
                  </a:lnTo>
                  <a:lnTo>
                    <a:pt x="2011680" y="747014"/>
                  </a:lnTo>
                  <a:lnTo>
                    <a:pt x="2011680" y="64008"/>
                  </a:lnTo>
                  <a:close/>
                </a:path>
                <a:path w="3108960" h="747395">
                  <a:moveTo>
                    <a:pt x="2285987" y="9144"/>
                  </a:moveTo>
                  <a:lnTo>
                    <a:pt x="2194560" y="9144"/>
                  </a:lnTo>
                  <a:lnTo>
                    <a:pt x="2194560" y="747014"/>
                  </a:lnTo>
                  <a:lnTo>
                    <a:pt x="2285987" y="747014"/>
                  </a:lnTo>
                  <a:lnTo>
                    <a:pt x="2285987" y="9144"/>
                  </a:lnTo>
                  <a:close/>
                </a:path>
                <a:path w="3108960" h="747395">
                  <a:moveTo>
                    <a:pt x="2560320" y="137160"/>
                  </a:moveTo>
                  <a:lnTo>
                    <a:pt x="2468880" y="137160"/>
                  </a:lnTo>
                  <a:lnTo>
                    <a:pt x="2468880" y="747014"/>
                  </a:lnTo>
                  <a:lnTo>
                    <a:pt x="2560320" y="747014"/>
                  </a:lnTo>
                  <a:lnTo>
                    <a:pt x="2560320" y="137160"/>
                  </a:lnTo>
                  <a:close/>
                </a:path>
                <a:path w="3108960" h="747395">
                  <a:moveTo>
                    <a:pt x="2834640" y="42672"/>
                  </a:moveTo>
                  <a:lnTo>
                    <a:pt x="2743200" y="42672"/>
                  </a:lnTo>
                  <a:lnTo>
                    <a:pt x="2743200" y="747014"/>
                  </a:lnTo>
                  <a:lnTo>
                    <a:pt x="2834640" y="747014"/>
                  </a:lnTo>
                  <a:lnTo>
                    <a:pt x="2834640" y="42672"/>
                  </a:lnTo>
                  <a:close/>
                </a:path>
                <a:path w="3108960" h="747395">
                  <a:moveTo>
                    <a:pt x="3108960" y="140208"/>
                  </a:moveTo>
                  <a:lnTo>
                    <a:pt x="3017520" y="140208"/>
                  </a:lnTo>
                  <a:lnTo>
                    <a:pt x="3017520" y="747014"/>
                  </a:lnTo>
                  <a:lnTo>
                    <a:pt x="3108960" y="747014"/>
                  </a:lnTo>
                  <a:lnTo>
                    <a:pt x="3108960" y="140208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074420" y="2238755"/>
              <a:ext cx="3108960" cy="1055370"/>
            </a:xfrm>
            <a:custGeom>
              <a:avLst/>
              <a:gdLst/>
              <a:ahLst/>
              <a:cxnLst/>
              <a:rect l="l" t="t" r="r" b="b"/>
              <a:pathLst>
                <a:path w="3108960" h="1055370">
                  <a:moveTo>
                    <a:pt x="91440" y="667512"/>
                  </a:moveTo>
                  <a:lnTo>
                    <a:pt x="0" y="667512"/>
                  </a:lnTo>
                  <a:lnTo>
                    <a:pt x="0" y="1054862"/>
                  </a:lnTo>
                  <a:lnTo>
                    <a:pt x="91440" y="1054862"/>
                  </a:lnTo>
                  <a:lnTo>
                    <a:pt x="91440" y="667512"/>
                  </a:lnTo>
                  <a:close/>
                </a:path>
                <a:path w="3108960" h="1055370">
                  <a:moveTo>
                    <a:pt x="365760" y="545592"/>
                  </a:moveTo>
                  <a:lnTo>
                    <a:pt x="274320" y="545592"/>
                  </a:lnTo>
                  <a:lnTo>
                    <a:pt x="274320" y="1054862"/>
                  </a:lnTo>
                  <a:lnTo>
                    <a:pt x="365760" y="1054862"/>
                  </a:lnTo>
                  <a:lnTo>
                    <a:pt x="365760" y="545592"/>
                  </a:lnTo>
                  <a:close/>
                </a:path>
                <a:path w="3108960" h="1055370">
                  <a:moveTo>
                    <a:pt x="640080" y="472440"/>
                  </a:moveTo>
                  <a:lnTo>
                    <a:pt x="548640" y="472440"/>
                  </a:lnTo>
                  <a:lnTo>
                    <a:pt x="548640" y="1054862"/>
                  </a:lnTo>
                  <a:lnTo>
                    <a:pt x="640080" y="1054862"/>
                  </a:lnTo>
                  <a:lnTo>
                    <a:pt x="640080" y="472440"/>
                  </a:lnTo>
                  <a:close/>
                </a:path>
                <a:path w="3108960" h="1055370">
                  <a:moveTo>
                    <a:pt x="914400" y="414528"/>
                  </a:moveTo>
                  <a:lnTo>
                    <a:pt x="822960" y="414528"/>
                  </a:lnTo>
                  <a:lnTo>
                    <a:pt x="822960" y="1054862"/>
                  </a:lnTo>
                  <a:lnTo>
                    <a:pt x="914400" y="1054862"/>
                  </a:lnTo>
                  <a:lnTo>
                    <a:pt x="914400" y="414528"/>
                  </a:lnTo>
                  <a:close/>
                </a:path>
                <a:path w="3108960" h="1055370">
                  <a:moveTo>
                    <a:pt x="1188720" y="251460"/>
                  </a:moveTo>
                  <a:lnTo>
                    <a:pt x="1097280" y="251460"/>
                  </a:lnTo>
                  <a:lnTo>
                    <a:pt x="1097280" y="1054862"/>
                  </a:lnTo>
                  <a:lnTo>
                    <a:pt x="1188720" y="1054862"/>
                  </a:lnTo>
                  <a:lnTo>
                    <a:pt x="1188720" y="251460"/>
                  </a:lnTo>
                  <a:close/>
                </a:path>
                <a:path w="3108960" h="1055370">
                  <a:moveTo>
                    <a:pt x="1463040" y="493776"/>
                  </a:moveTo>
                  <a:lnTo>
                    <a:pt x="1371600" y="493776"/>
                  </a:lnTo>
                  <a:lnTo>
                    <a:pt x="1371600" y="1054862"/>
                  </a:lnTo>
                  <a:lnTo>
                    <a:pt x="1463040" y="1054862"/>
                  </a:lnTo>
                  <a:lnTo>
                    <a:pt x="1463040" y="493776"/>
                  </a:lnTo>
                  <a:close/>
                </a:path>
                <a:path w="3108960" h="1055370">
                  <a:moveTo>
                    <a:pt x="1737360" y="300228"/>
                  </a:moveTo>
                  <a:lnTo>
                    <a:pt x="1645920" y="300228"/>
                  </a:lnTo>
                  <a:lnTo>
                    <a:pt x="1645920" y="1054862"/>
                  </a:lnTo>
                  <a:lnTo>
                    <a:pt x="1737360" y="1054862"/>
                  </a:lnTo>
                  <a:lnTo>
                    <a:pt x="1737360" y="300228"/>
                  </a:lnTo>
                  <a:close/>
                </a:path>
                <a:path w="3108960" h="1055370">
                  <a:moveTo>
                    <a:pt x="2011680" y="259080"/>
                  </a:moveTo>
                  <a:lnTo>
                    <a:pt x="1920240" y="259080"/>
                  </a:lnTo>
                  <a:lnTo>
                    <a:pt x="1920240" y="1054862"/>
                  </a:lnTo>
                  <a:lnTo>
                    <a:pt x="2011680" y="1054862"/>
                  </a:lnTo>
                  <a:lnTo>
                    <a:pt x="2011680" y="259080"/>
                  </a:lnTo>
                  <a:close/>
                </a:path>
                <a:path w="3108960" h="1055370">
                  <a:moveTo>
                    <a:pt x="2286000" y="329184"/>
                  </a:moveTo>
                  <a:lnTo>
                    <a:pt x="2194547" y="329184"/>
                  </a:lnTo>
                  <a:lnTo>
                    <a:pt x="2194547" y="1054862"/>
                  </a:lnTo>
                  <a:lnTo>
                    <a:pt x="2286000" y="1054862"/>
                  </a:lnTo>
                  <a:lnTo>
                    <a:pt x="2286000" y="329184"/>
                  </a:lnTo>
                  <a:close/>
                </a:path>
                <a:path w="3108960" h="1055370">
                  <a:moveTo>
                    <a:pt x="2560320" y="60960"/>
                  </a:moveTo>
                  <a:lnTo>
                    <a:pt x="2468880" y="60960"/>
                  </a:lnTo>
                  <a:lnTo>
                    <a:pt x="2468880" y="1054862"/>
                  </a:lnTo>
                  <a:lnTo>
                    <a:pt x="2560320" y="1054862"/>
                  </a:lnTo>
                  <a:lnTo>
                    <a:pt x="2560320" y="60960"/>
                  </a:lnTo>
                  <a:close/>
                </a:path>
                <a:path w="3108960" h="1055370">
                  <a:moveTo>
                    <a:pt x="2834640" y="77724"/>
                  </a:moveTo>
                  <a:lnTo>
                    <a:pt x="2743200" y="77724"/>
                  </a:lnTo>
                  <a:lnTo>
                    <a:pt x="2743200" y="1054862"/>
                  </a:lnTo>
                  <a:lnTo>
                    <a:pt x="2834640" y="1054862"/>
                  </a:lnTo>
                  <a:lnTo>
                    <a:pt x="2834640" y="77724"/>
                  </a:lnTo>
                  <a:close/>
                </a:path>
                <a:path w="3108960" h="1055370">
                  <a:moveTo>
                    <a:pt x="3108960" y="0"/>
                  </a:moveTo>
                  <a:lnTo>
                    <a:pt x="3017520" y="0"/>
                  </a:lnTo>
                  <a:lnTo>
                    <a:pt x="3017520" y="1054862"/>
                  </a:lnTo>
                  <a:lnTo>
                    <a:pt x="3108960" y="1054862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" name="object 11"/>
            <p:cNvSpPr/>
            <p:nvPr/>
          </p:nvSpPr>
          <p:spPr>
            <a:xfrm>
              <a:off x="936536" y="3293617"/>
              <a:ext cx="3293110" cy="31750"/>
            </a:xfrm>
            <a:custGeom>
              <a:avLst/>
              <a:gdLst/>
              <a:ahLst/>
              <a:cxnLst/>
              <a:rect l="l" t="t" r="r" b="b"/>
              <a:pathLst>
                <a:path w="3293110" h="31750">
                  <a:moveTo>
                    <a:pt x="0" y="0"/>
                  </a:moveTo>
                  <a:lnTo>
                    <a:pt x="3292563" y="0"/>
                  </a:lnTo>
                </a:path>
                <a:path w="3293110" h="31750">
                  <a:moveTo>
                    <a:pt x="0" y="0"/>
                  </a:moveTo>
                  <a:lnTo>
                    <a:pt x="0" y="31623"/>
                  </a:lnTo>
                </a:path>
                <a:path w="3293110" h="31750">
                  <a:moveTo>
                    <a:pt x="275043" y="0"/>
                  </a:moveTo>
                  <a:lnTo>
                    <a:pt x="275043" y="31623"/>
                  </a:lnTo>
                </a:path>
                <a:path w="3293110" h="31750">
                  <a:moveTo>
                    <a:pt x="549363" y="0"/>
                  </a:moveTo>
                  <a:lnTo>
                    <a:pt x="549363" y="31623"/>
                  </a:lnTo>
                </a:path>
                <a:path w="3293110" h="31750">
                  <a:moveTo>
                    <a:pt x="823683" y="0"/>
                  </a:moveTo>
                  <a:lnTo>
                    <a:pt x="823683" y="31623"/>
                  </a:lnTo>
                </a:path>
                <a:path w="3293110" h="31750">
                  <a:moveTo>
                    <a:pt x="1098003" y="0"/>
                  </a:moveTo>
                  <a:lnTo>
                    <a:pt x="1098003" y="31623"/>
                  </a:lnTo>
                </a:path>
                <a:path w="3293110" h="31750">
                  <a:moveTo>
                    <a:pt x="1372323" y="0"/>
                  </a:moveTo>
                  <a:lnTo>
                    <a:pt x="1372323" y="31623"/>
                  </a:lnTo>
                </a:path>
                <a:path w="3293110" h="31750">
                  <a:moveTo>
                    <a:pt x="1646643" y="0"/>
                  </a:moveTo>
                  <a:lnTo>
                    <a:pt x="1646643" y="31623"/>
                  </a:lnTo>
                </a:path>
                <a:path w="3293110" h="31750">
                  <a:moveTo>
                    <a:pt x="1920963" y="0"/>
                  </a:moveTo>
                  <a:lnTo>
                    <a:pt x="1920963" y="31623"/>
                  </a:lnTo>
                </a:path>
                <a:path w="3293110" h="31750">
                  <a:moveTo>
                    <a:pt x="2195283" y="0"/>
                  </a:moveTo>
                  <a:lnTo>
                    <a:pt x="2195283" y="31623"/>
                  </a:lnTo>
                </a:path>
                <a:path w="3293110" h="31750">
                  <a:moveTo>
                    <a:pt x="2469603" y="0"/>
                  </a:moveTo>
                  <a:lnTo>
                    <a:pt x="2469603" y="31623"/>
                  </a:lnTo>
                </a:path>
                <a:path w="3293110" h="31750">
                  <a:moveTo>
                    <a:pt x="2743923" y="0"/>
                  </a:moveTo>
                  <a:lnTo>
                    <a:pt x="2743923" y="31623"/>
                  </a:lnTo>
                </a:path>
                <a:path w="3293110" h="31750">
                  <a:moveTo>
                    <a:pt x="3018243" y="0"/>
                  </a:moveTo>
                  <a:lnTo>
                    <a:pt x="3018243" y="31623"/>
                  </a:lnTo>
                </a:path>
                <a:path w="3293110" h="31750">
                  <a:moveTo>
                    <a:pt x="3292563" y="0"/>
                  </a:moveTo>
                  <a:lnTo>
                    <a:pt x="3292563" y="31623"/>
                  </a:lnTo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2" name="object 12"/>
          <p:cNvSpPr/>
          <p:nvPr/>
        </p:nvSpPr>
        <p:spPr>
          <a:xfrm>
            <a:off x="702402" y="2495073"/>
            <a:ext cx="2469833" cy="0"/>
          </a:xfrm>
          <a:custGeom>
            <a:avLst/>
            <a:gdLst/>
            <a:ahLst/>
            <a:cxnLst/>
            <a:rect l="l" t="t" r="r" b="b"/>
            <a:pathLst>
              <a:path w="3293110">
                <a:moveTo>
                  <a:pt x="0" y="0"/>
                </a:moveTo>
                <a:lnTo>
                  <a:pt x="3292563" y="0"/>
                </a:lnTo>
              </a:path>
            </a:pathLst>
          </a:custGeom>
          <a:ln w="3175">
            <a:solidFill>
              <a:srgbClr val="A7A7A7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509626" y="2438971"/>
            <a:ext cx="133826" cy="959398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R="3810" algn="r">
              <a:spcBef>
                <a:spcPts val="71"/>
              </a:spcBef>
            </a:pPr>
            <a:r>
              <a:rPr sz="525" spc="-19" dirty="0">
                <a:latin typeface="Calibri"/>
                <a:cs typeface="Calibri"/>
              </a:rPr>
              <a:t>600</a:t>
            </a:r>
            <a:endParaRPr sz="525">
              <a:latin typeface="Calibri"/>
              <a:cs typeface="Calibri"/>
            </a:endParaRPr>
          </a:p>
          <a:p>
            <a:pPr marR="3810" algn="r">
              <a:spcBef>
                <a:spcPts val="461"/>
              </a:spcBef>
            </a:pPr>
            <a:r>
              <a:rPr sz="525" spc="-19" dirty="0">
                <a:latin typeface="Calibri"/>
                <a:cs typeface="Calibri"/>
              </a:rPr>
              <a:t>500</a:t>
            </a:r>
            <a:endParaRPr sz="525">
              <a:latin typeface="Calibri"/>
              <a:cs typeface="Calibri"/>
            </a:endParaRPr>
          </a:p>
          <a:p>
            <a:pPr marR="3810" algn="r">
              <a:spcBef>
                <a:spcPts val="465"/>
              </a:spcBef>
            </a:pPr>
            <a:r>
              <a:rPr sz="525" spc="-19" dirty="0">
                <a:latin typeface="Calibri"/>
                <a:cs typeface="Calibri"/>
              </a:rPr>
              <a:t>400</a:t>
            </a:r>
            <a:endParaRPr sz="525">
              <a:latin typeface="Calibri"/>
              <a:cs typeface="Calibri"/>
            </a:endParaRPr>
          </a:p>
          <a:p>
            <a:pPr marR="3810" algn="r">
              <a:spcBef>
                <a:spcPts val="461"/>
              </a:spcBef>
            </a:pPr>
            <a:r>
              <a:rPr sz="525" spc="-19" dirty="0">
                <a:latin typeface="Calibri"/>
                <a:cs typeface="Calibri"/>
              </a:rPr>
              <a:t>300</a:t>
            </a:r>
            <a:endParaRPr sz="525">
              <a:latin typeface="Calibri"/>
              <a:cs typeface="Calibri"/>
            </a:endParaRPr>
          </a:p>
          <a:p>
            <a:pPr marR="3810" algn="r">
              <a:spcBef>
                <a:spcPts val="461"/>
              </a:spcBef>
            </a:pPr>
            <a:r>
              <a:rPr sz="525" spc="-19" dirty="0">
                <a:latin typeface="Calibri"/>
                <a:cs typeface="Calibri"/>
              </a:rPr>
              <a:t>200</a:t>
            </a:r>
            <a:endParaRPr sz="525">
              <a:latin typeface="Calibri"/>
              <a:cs typeface="Calibri"/>
            </a:endParaRPr>
          </a:p>
          <a:p>
            <a:pPr marR="3810" algn="r">
              <a:spcBef>
                <a:spcPts val="465"/>
              </a:spcBef>
            </a:pPr>
            <a:r>
              <a:rPr sz="525" spc="-19" dirty="0">
                <a:latin typeface="Calibri"/>
                <a:cs typeface="Calibri"/>
              </a:rPr>
              <a:t>100</a:t>
            </a:r>
            <a:endParaRPr sz="525">
              <a:latin typeface="Calibri"/>
              <a:cs typeface="Calibri"/>
            </a:endParaRPr>
          </a:p>
          <a:p>
            <a:pPr marR="3810" algn="r">
              <a:spcBef>
                <a:spcPts val="461"/>
              </a:spcBef>
            </a:pPr>
            <a:r>
              <a:rPr sz="525" spc="-38" dirty="0">
                <a:latin typeface="Calibri"/>
                <a:cs typeface="Calibri"/>
              </a:rPr>
              <a:t>0</a:t>
            </a:r>
            <a:endParaRPr sz="52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341" y="3370516"/>
            <a:ext cx="2386013" cy="8992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  <a:tabLst>
                <a:tab pos="205740" algn="l"/>
                <a:tab pos="1036320" algn="l"/>
                <a:tab pos="1253966" algn="l"/>
                <a:tab pos="1438275" algn="l"/>
                <a:tab pos="1854518" algn="l"/>
              </a:tabLst>
            </a:pPr>
            <a:r>
              <a:rPr sz="525" spc="-19" dirty="0">
                <a:latin typeface="Calibri"/>
                <a:cs typeface="Calibri"/>
              </a:rPr>
              <a:t>Jan</a:t>
            </a:r>
            <a:r>
              <a:rPr sz="525" dirty="0">
                <a:latin typeface="Calibri"/>
                <a:cs typeface="Calibri"/>
              </a:rPr>
              <a:t>	Feb</a:t>
            </a:r>
            <a:r>
              <a:rPr sz="525" spc="274" dirty="0">
                <a:latin typeface="Calibri"/>
                <a:cs typeface="Calibri"/>
              </a:rPr>
              <a:t>  </a:t>
            </a:r>
            <a:r>
              <a:rPr sz="525" dirty="0">
                <a:latin typeface="Calibri"/>
                <a:cs typeface="Calibri"/>
              </a:rPr>
              <a:t>Mar</a:t>
            </a:r>
            <a:r>
              <a:rPr sz="525" spc="285" dirty="0">
                <a:latin typeface="Calibri"/>
                <a:cs typeface="Calibri"/>
              </a:rPr>
              <a:t>  </a:t>
            </a:r>
            <a:r>
              <a:rPr sz="525" dirty="0">
                <a:latin typeface="Calibri"/>
                <a:cs typeface="Calibri"/>
              </a:rPr>
              <a:t>Apr</a:t>
            </a:r>
            <a:r>
              <a:rPr sz="525" spc="274" dirty="0">
                <a:latin typeface="Calibri"/>
                <a:cs typeface="Calibri"/>
              </a:rPr>
              <a:t>  </a:t>
            </a:r>
            <a:r>
              <a:rPr sz="525" spc="-19" dirty="0">
                <a:latin typeface="Calibri"/>
                <a:cs typeface="Calibri"/>
              </a:rPr>
              <a:t>May</a:t>
            </a:r>
            <a:r>
              <a:rPr sz="525" dirty="0">
                <a:latin typeface="Calibri"/>
                <a:cs typeface="Calibri"/>
              </a:rPr>
              <a:t>	</a:t>
            </a:r>
            <a:r>
              <a:rPr sz="525" spc="-19" dirty="0">
                <a:latin typeface="Calibri"/>
                <a:cs typeface="Calibri"/>
              </a:rPr>
              <a:t>Jun</a:t>
            </a:r>
            <a:r>
              <a:rPr sz="525" dirty="0">
                <a:latin typeface="Calibri"/>
                <a:cs typeface="Calibri"/>
              </a:rPr>
              <a:t>	</a:t>
            </a:r>
            <a:r>
              <a:rPr sz="525" spc="-19" dirty="0">
                <a:latin typeface="Calibri"/>
                <a:cs typeface="Calibri"/>
              </a:rPr>
              <a:t>Jul</a:t>
            </a:r>
            <a:r>
              <a:rPr sz="525" dirty="0">
                <a:latin typeface="Calibri"/>
                <a:cs typeface="Calibri"/>
              </a:rPr>
              <a:t>	Aug</a:t>
            </a:r>
            <a:r>
              <a:rPr sz="525" spc="285" dirty="0">
                <a:latin typeface="Calibri"/>
                <a:cs typeface="Calibri"/>
              </a:rPr>
              <a:t>  </a:t>
            </a:r>
            <a:r>
              <a:rPr sz="525" spc="-19" dirty="0">
                <a:latin typeface="Calibri"/>
                <a:cs typeface="Calibri"/>
              </a:rPr>
              <a:t>Sep</a:t>
            </a:r>
            <a:r>
              <a:rPr sz="525" dirty="0">
                <a:latin typeface="Calibri"/>
                <a:cs typeface="Calibri"/>
              </a:rPr>
              <a:t>	Oct</a:t>
            </a:r>
            <a:r>
              <a:rPr sz="525" spc="289" dirty="0">
                <a:latin typeface="Calibri"/>
                <a:cs typeface="Calibri"/>
              </a:rPr>
              <a:t>  </a:t>
            </a:r>
            <a:r>
              <a:rPr sz="525" dirty="0">
                <a:latin typeface="Calibri"/>
                <a:cs typeface="Calibri"/>
              </a:rPr>
              <a:t>Nov</a:t>
            </a:r>
            <a:r>
              <a:rPr sz="525" spc="270" dirty="0">
                <a:latin typeface="Calibri"/>
                <a:cs typeface="Calibri"/>
              </a:rPr>
              <a:t>  </a:t>
            </a:r>
            <a:r>
              <a:rPr sz="525" spc="-19" dirty="0">
                <a:latin typeface="Calibri"/>
                <a:cs typeface="Calibri"/>
              </a:rPr>
              <a:t>Dec</a:t>
            </a:r>
            <a:endParaRPr sz="525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52110" y="2372501"/>
            <a:ext cx="40958" cy="40958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54463" y="0"/>
                </a:moveTo>
                <a:lnTo>
                  <a:pt x="0" y="0"/>
                </a:lnTo>
                <a:lnTo>
                  <a:pt x="0" y="54463"/>
                </a:lnTo>
                <a:lnTo>
                  <a:pt x="54463" y="54463"/>
                </a:lnTo>
                <a:lnTo>
                  <a:pt x="54463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1917191" y="2372501"/>
            <a:ext cx="40958" cy="40958"/>
          </a:xfrm>
          <a:custGeom>
            <a:avLst/>
            <a:gdLst/>
            <a:ahLst/>
            <a:cxnLst/>
            <a:rect l="l" t="t" r="r" b="b"/>
            <a:pathLst>
              <a:path w="54610" h="54610">
                <a:moveTo>
                  <a:pt x="54463" y="0"/>
                </a:moveTo>
                <a:lnTo>
                  <a:pt x="0" y="0"/>
                </a:lnTo>
                <a:lnTo>
                  <a:pt x="0" y="54463"/>
                </a:lnTo>
                <a:lnTo>
                  <a:pt x="54463" y="54463"/>
                </a:lnTo>
                <a:lnTo>
                  <a:pt x="54463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814350" y="2088547"/>
            <a:ext cx="2035016" cy="33804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90024" marR="3810" indent="-180975">
              <a:lnSpc>
                <a:spcPct val="113300"/>
              </a:lnSpc>
              <a:spcBef>
                <a:spcPts val="75"/>
              </a:spcBef>
            </a:pPr>
            <a:r>
              <a:rPr sz="675" spc="-26" dirty="0">
                <a:latin typeface="Arial Black"/>
                <a:cs typeface="Arial Black"/>
              </a:rPr>
              <a:t>Number</a:t>
            </a:r>
            <a:r>
              <a:rPr sz="675" spc="-15" dirty="0">
                <a:latin typeface="Arial Black"/>
                <a:cs typeface="Arial Black"/>
              </a:rPr>
              <a:t> </a:t>
            </a:r>
            <a:r>
              <a:rPr sz="675" spc="-26" dirty="0">
                <a:latin typeface="Arial Black"/>
                <a:cs typeface="Arial Black"/>
              </a:rPr>
              <a:t>of</a:t>
            </a:r>
            <a:r>
              <a:rPr sz="675" spc="-15" dirty="0">
                <a:latin typeface="Arial Black"/>
                <a:cs typeface="Arial Black"/>
              </a:rPr>
              <a:t> </a:t>
            </a:r>
            <a:r>
              <a:rPr sz="675" spc="-53" dirty="0">
                <a:latin typeface="Arial Black"/>
                <a:cs typeface="Arial Black"/>
              </a:rPr>
              <a:t>attacks</a:t>
            </a:r>
            <a:r>
              <a:rPr sz="675" spc="-26" dirty="0">
                <a:latin typeface="Arial Black"/>
                <a:cs typeface="Arial Black"/>
              </a:rPr>
              <a:t> </a:t>
            </a:r>
            <a:r>
              <a:rPr sz="675" spc="-41" dirty="0">
                <a:latin typeface="Arial Black"/>
                <a:cs typeface="Arial Black"/>
              </a:rPr>
              <a:t>ransomware</a:t>
            </a:r>
            <a:r>
              <a:rPr sz="675" spc="-8" dirty="0">
                <a:latin typeface="Arial Black"/>
                <a:cs typeface="Arial Black"/>
              </a:rPr>
              <a:t> </a:t>
            </a:r>
            <a:r>
              <a:rPr sz="675" spc="-53" dirty="0">
                <a:latin typeface="Arial Black"/>
                <a:cs typeface="Arial Black"/>
              </a:rPr>
              <a:t>actors</a:t>
            </a:r>
            <a:r>
              <a:rPr sz="675" spc="-15" dirty="0">
                <a:latin typeface="Arial Black"/>
                <a:cs typeface="Arial Black"/>
              </a:rPr>
              <a:t> </a:t>
            </a:r>
            <a:r>
              <a:rPr sz="675" spc="-30" dirty="0">
                <a:latin typeface="Arial Black"/>
                <a:cs typeface="Arial Black"/>
              </a:rPr>
              <a:t>claimed </a:t>
            </a:r>
            <a:r>
              <a:rPr sz="675" spc="-38" dirty="0">
                <a:latin typeface="Arial Black"/>
                <a:cs typeface="Arial Black"/>
              </a:rPr>
              <a:t>responsibility</a:t>
            </a:r>
            <a:r>
              <a:rPr sz="675" spc="-19" dirty="0">
                <a:latin typeface="Arial Black"/>
                <a:cs typeface="Arial Black"/>
              </a:rPr>
              <a:t> </a:t>
            </a:r>
            <a:r>
              <a:rPr sz="675" spc="-15" dirty="0">
                <a:latin typeface="Arial Black"/>
                <a:cs typeface="Arial Black"/>
              </a:rPr>
              <a:t>for</a:t>
            </a:r>
            <a:r>
              <a:rPr sz="675" spc="-30" dirty="0">
                <a:latin typeface="Arial Black"/>
                <a:cs typeface="Arial Black"/>
              </a:rPr>
              <a:t> </a:t>
            </a:r>
            <a:r>
              <a:rPr sz="675" spc="-26" dirty="0">
                <a:latin typeface="Arial Black"/>
                <a:cs typeface="Arial Black"/>
              </a:rPr>
              <a:t>during</a:t>
            </a:r>
            <a:r>
              <a:rPr sz="675" spc="-23" dirty="0">
                <a:latin typeface="Arial Black"/>
                <a:cs typeface="Arial Black"/>
              </a:rPr>
              <a:t> </a:t>
            </a:r>
            <a:r>
              <a:rPr sz="675" spc="-68" dirty="0">
                <a:latin typeface="Arial Black"/>
                <a:cs typeface="Arial Black"/>
              </a:rPr>
              <a:t>2023</a:t>
            </a:r>
            <a:r>
              <a:rPr sz="675" spc="-49" dirty="0">
                <a:latin typeface="Arial Black"/>
                <a:cs typeface="Arial Black"/>
              </a:rPr>
              <a:t> </a:t>
            </a:r>
            <a:r>
              <a:rPr sz="675" spc="-30" dirty="0">
                <a:latin typeface="Arial Black"/>
                <a:cs typeface="Arial Black"/>
              </a:rPr>
              <a:t>and</a:t>
            </a:r>
            <a:r>
              <a:rPr sz="675" spc="-26" dirty="0">
                <a:latin typeface="Arial Black"/>
                <a:cs typeface="Arial Black"/>
              </a:rPr>
              <a:t> </a:t>
            </a:r>
            <a:r>
              <a:rPr sz="675" spc="-15" dirty="0">
                <a:latin typeface="Arial Black"/>
                <a:cs typeface="Arial Black"/>
              </a:rPr>
              <a:t>2024</a:t>
            </a:r>
            <a:endParaRPr sz="675" dirty="0">
              <a:latin typeface="Arial Black"/>
              <a:cs typeface="Arial Black"/>
            </a:endParaRPr>
          </a:p>
          <a:p>
            <a:pPr marL="173831" algn="ctr">
              <a:spcBef>
                <a:spcPts val="116"/>
              </a:spcBef>
              <a:tabLst>
                <a:tab pos="438626" algn="l"/>
              </a:tabLst>
            </a:pPr>
            <a:r>
              <a:rPr sz="525" spc="-15" dirty="0">
                <a:latin typeface="Calibri"/>
                <a:cs typeface="Calibri"/>
              </a:rPr>
              <a:t>2023</a:t>
            </a:r>
            <a:r>
              <a:rPr sz="525" dirty="0">
                <a:latin typeface="Calibri"/>
                <a:cs typeface="Calibri"/>
              </a:rPr>
              <a:t>	</a:t>
            </a:r>
            <a:r>
              <a:rPr sz="525" spc="-15" dirty="0">
                <a:latin typeface="Calibri"/>
                <a:cs typeface="Calibri"/>
              </a:rPr>
              <a:t>2024</a:t>
            </a:r>
            <a:endParaRPr sz="525" dirty="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83374" y="3955732"/>
            <a:ext cx="1310164" cy="1310164"/>
            <a:chOff x="1711165" y="4131309"/>
            <a:chExt cx="1746885" cy="1746885"/>
          </a:xfrm>
        </p:grpSpPr>
        <p:sp>
          <p:nvSpPr>
            <p:cNvPr id="19" name="object 19"/>
            <p:cNvSpPr/>
            <p:nvPr/>
          </p:nvSpPr>
          <p:spPr>
            <a:xfrm>
              <a:off x="2584449" y="4131309"/>
              <a:ext cx="873760" cy="1092835"/>
            </a:xfrm>
            <a:custGeom>
              <a:avLst/>
              <a:gdLst/>
              <a:ahLst/>
              <a:cxnLst/>
              <a:rect l="l" t="t" r="r" b="b"/>
              <a:pathLst>
                <a:path w="873760" h="1092835">
                  <a:moveTo>
                    <a:pt x="0" y="0"/>
                  </a:moveTo>
                  <a:lnTo>
                    <a:pt x="0" y="305688"/>
                  </a:lnTo>
                  <a:lnTo>
                    <a:pt x="36016" y="306830"/>
                  </a:lnTo>
                  <a:lnTo>
                    <a:pt x="71818" y="310245"/>
                  </a:lnTo>
                  <a:lnTo>
                    <a:pt x="142494" y="323850"/>
                  </a:lnTo>
                  <a:lnTo>
                    <a:pt x="189372" y="338149"/>
                  </a:lnTo>
                  <a:lnTo>
                    <a:pt x="234115" y="356085"/>
                  </a:lnTo>
                  <a:lnTo>
                    <a:pt x="276599" y="377448"/>
                  </a:lnTo>
                  <a:lnTo>
                    <a:pt x="316703" y="402032"/>
                  </a:lnTo>
                  <a:lnTo>
                    <a:pt x="354305" y="429627"/>
                  </a:lnTo>
                  <a:lnTo>
                    <a:pt x="389282" y="460026"/>
                  </a:lnTo>
                  <a:lnTo>
                    <a:pt x="421512" y="493021"/>
                  </a:lnTo>
                  <a:lnTo>
                    <a:pt x="450873" y="528404"/>
                  </a:lnTo>
                  <a:lnTo>
                    <a:pt x="477242" y="565967"/>
                  </a:lnTo>
                  <a:lnTo>
                    <a:pt x="500498" y="605502"/>
                  </a:lnTo>
                  <a:lnTo>
                    <a:pt x="520518" y="646802"/>
                  </a:lnTo>
                  <a:lnTo>
                    <a:pt x="537181" y="689657"/>
                  </a:lnTo>
                  <a:lnTo>
                    <a:pt x="550363" y="733860"/>
                  </a:lnTo>
                  <a:lnTo>
                    <a:pt x="559942" y="779204"/>
                  </a:lnTo>
                  <a:lnTo>
                    <a:pt x="565798" y="825480"/>
                  </a:lnTo>
                  <a:lnTo>
                    <a:pt x="567806" y="872480"/>
                  </a:lnTo>
                  <a:lnTo>
                    <a:pt x="565845" y="919996"/>
                  </a:lnTo>
                  <a:lnTo>
                    <a:pt x="559794" y="967821"/>
                  </a:lnTo>
                  <a:lnTo>
                    <a:pt x="549529" y="1015745"/>
                  </a:lnTo>
                  <a:lnTo>
                    <a:pt x="845312" y="1092453"/>
                  </a:lnTo>
                  <a:lnTo>
                    <a:pt x="857573" y="1038451"/>
                  </a:lnTo>
                  <a:lnTo>
                    <a:pt x="866346" y="983805"/>
                  </a:lnTo>
                  <a:lnTo>
                    <a:pt x="871618" y="928683"/>
                  </a:lnTo>
                  <a:lnTo>
                    <a:pt x="873378" y="873251"/>
                  </a:lnTo>
                  <a:lnTo>
                    <a:pt x="872086" y="825333"/>
                  </a:lnTo>
                  <a:lnTo>
                    <a:pt x="868254" y="778090"/>
                  </a:lnTo>
                  <a:lnTo>
                    <a:pt x="861947" y="731590"/>
                  </a:lnTo>
                  <a:lnTo>
                    <a:pt x="853234" y="685900"/>
                  </a:lnTo>
                  <a:lnTo>
                    <a:pt x="842180" y="641085"/>
                  </a:lnTo>
                  <a:lnTo>
                    <a:pt x="828852" y="597212"/>
                  </a:lnTo>
                  <a:lnTo>
                    <a:pt x="813317" y="554349"/>
                  </a:lnTo>
                  <a:lnTo>
                    <a:pt x="795642" y="512561"/>
                  </a:lnTo>
                  <a:lnTo>
                    <a:pt x="775892" y="471914"/>
                  </a:lnTo>
                  <a:lnTo>
                    <a:pt x="754135" y="432477"/>
                  </a:lnTo>
                  <a:lnTo>
                    <a:pt x="730437" y="394314"/>
                  </a:lnTo>
                  <a:lnTo>
                    <a:pt x="704865" y="357493"/>
                  </a:lnTo>
                  <a:lnTo>
                    <a:pt x="677485" y="322081"/>
                  </a:lnTo>
                  <a:lnTo>
                    <a:pt x="648364" y="288143"/>
                  </a:lnTo>
                  <a:lnTo>
                    <a:pt x="617569" y="255746"/>
                  </a:lnTo>
                  <a:lnTo>
                    <a:pt x="585166" y="224957"/>
                  </a:lnTo>
                  <a:lnTo>
                    <a:pt x="551221" y="195842"/>
                  </a:lnTo>
                  <a:lnTo>
                    <a:pt x="515802" y="168469"/>
                  </a:lnTo>
                  <a:lnTo>
                    <a:pt x="478975" y="142902"/>
                  </a:lnTo>
                  <a:lnTo>
                    <a:pt x="440807" y="119210"/>
                  </a:lnTo>
                  <a:lnTo>
                    <a:pt x="401364" y="97459"/>
                  </a:lnTo>
                  <a:lnTo>
                    <a:pt x="360713" y="77714"/>
                  </a:lnTo>
                  <a:lnTo>
                    <a:pt x="318920" y="60043"/>
                  </a:lnTo>
                  <a:lnTo>
                    <a:pt x="276052" y="44512"/>
                  </a:lnTo>
                  <a:lnTo>
                    <a:pt x="232175" y="31189"/>
                  </a:lnTo>
                  <a:lnTo>
                    <a:pt x="187357" y="20138"/>
                  </a:lnTo>
                  <a:lnTo>
                    <a:pt x="141664" y="11427"/>
                  </a:lnTo>
                  <a:lnTo>
                    <a:pt x="95162" y="5123"/>
                  </a:lnTo>
                  <a:lnTo>
                    <a:pt x="47919" y="1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165476" y="5147055"/>
              <a:ext cx="1264285" cy="731520"/>
            </a:xfrm>
            <a:custGeom>
              <a:avLst/>
              <a:gdLst/>
              <a:ahLst/>
              <a:cxnLst/>
              <a:rect l="l" t="t" r="r" b="b"/>
              <a:pathLst>
                <a:path w="1264285" h="731520">
                  <a:moveTo>
                    <a:pt x="968502" y="0"/>
                  </a:moveTo>
                  <a:lnTo>
                    <a:pt x="946737" y="66516"/>
                  </a:lnTo>
                  <a:lnTo>
                    <a:pt x="917067" y="129794"/>
                  </a:lnTo>
                  <a:lnTo>
                    <a:pt x="891746" y="171789"/>
                  </a:lnTo>
                  <a:lnTo>
                    <a:pt x="863423" y="210821"/>
                  </a:lnTo>
                  <a:lnTo>
                    <a:pt x="832329" y="246823"/>
                  </a:lnTo>
                  <a:lnTo>
                    <a:pt x="798694" y="279728"/>
                  </a:lnTo>
                  <a:lnTo>
                    <a:pt x="762752" y="309466"/>
                  </a:lnTo>
                  <a:lnTo>
                    <a:pt x="724732" y="335972"/>
                  </a:lnTo>
                  <a:lnTo>
                    <a:pt x="684866" y="359177"/>
                  </a:lnTo>
                  <a:lnTo>
                    <a:pt x="643386" y="379014"/>
                  </a:lnTo>
                  <a:lnTo>
                    <a:pt x="600522" y="395416"/>
                  </a:lnTo>
                  <a:lnTo>
                    <a:pt x="556506" y="408314"/>
                  </a:lnTo>
                  <a:lnTo>
                    <a:pt x="511569" y="417641"/>
                  </a:lnTo>
                  <a:lnTo>
                    <a:pt x="465943" y="423330"/>
                  </a:lnTo>
                  <a:lnTo>
                    <a:pt x="419859" y="425313"/>
                  </a:lnTo>
                  <a:lnTo>
                    <a:pt x="373548" y="423522"/>
                  </a:lnTo>
                  <a:lnTo>
                    <a:pt x="327241" y="417890"/>
                  </a:lnTo>
                  <a:lnTo>
                    <a:pt x="281170" y="408349"/>
                  </a:lnTo>
                  <a:lnTo>
                    <a:pt x="235566" y="394832"/>
                  </a:lnTo>
                  <a:lnTo>
                    <a:pt x="190660" y="377272"/>
                  </a:lnTo>
                  <a:lnTo>
                    <a:pt x="146685" y="355600"/>
                  </a:lnTo>
                  <a:lnTo>
                    <a:pt x="0" y="623824"/>
                  </a:lnTo>
                  <a:lnTo>
                    <a:pt x="48055" y="648196"/>
                  </a:lnTo>
                  <a:lnTo>
                    <a:pt x="97456" y="669539"/>
                  </a:lnTo>
                  <a:lnTo>
                    <a:pt x="148072" y="687798"/>
                  </a:lnTo>
                  <a:lnTo>
                    <a:pt x="199771" y="702919"/>
                  </a:lnTo>
                  <a:lnTo>
                    <a:pt x="246475" y="713695"/>
                  </a:lnTo>
                  <a:lnTo>
                    <a:pt x="293163" y="721842"/>
                  </a:lnTo>
                  <a:lnTo>
                    <a:pt x="339754" y="727409"/>
                  </a:lnTo>
                  <a:lnTo>
                    <a:pt x="386167" y="730442"/>
                  </a:lnTo>
                  <a:lnTo>
                    <a:pt x="432320" y="730991"/>
                  </a:lnTo>
                  <a:lnTo>
                    <a:pt x="478132" y="729103"/>
                  </a:lnTo>
                  <a:lnTo>
                    <a:pt x="523522" y="724824"/>
                  </a:lnTo>
                  <a:lnTo>
                    <a:pt x="568410" y="718204"/>
                  </a:lnTo>
                  <a:lnTo>
                    <a:pt x="612712" y="709290"/>
                  </a:lnTo>
                  <a:lnTo>
                    <a:pt x="656350" y="698130"/>
                  </a:lnTo>
                  <a:lnTo>
                    <a:pt x="699240" y="684771"/>
                  </a:lnTo>
                  <a:lnTo>
                    <a:pt x="741303" y="669261"/>
                  </a:lnTo>
                  <a:lnTo>
                    <a:pt x="782456" y="651647"/>
                  </a:lnTo>
                  <a:lnTo>
                    <a:pt x="822619" y="631979"/>
                  </a:lnTo>
                  <a:lnTo>
                    <a:pt x="861710" y="610303"/>
                  </a:lnTo>
                  <a:lnTo>
                    <a:pt x="899649" y="586667"/>
                  </a:lnTo>
                  <a:lnTo>
                    <a:pt x="936354" y="561118"/>
                  </a:lnTo>
                  <a:lnTo>
                    <a:pt x="971744" y="533706"/>
                  </a:lnTo>
                  <a:lnTo>
                    <a:pt x="1005737" y="504476"/>
                  </a:lnTo>
                  <a:lnTo>
                    <a:pt x="1038253" y="473478"/>
                  </a:lnTo>
                  <a:lnTo>
                    <a:pt x="1069210" y="440759"/>
                  </a:lnTo>
                  <a:lnTo>
                    <a:pt x="1098527" y="406366"/>
                  </a:lnTo>
                  <a:lnTo>
                    <a:pt x="1126123" y="370347"/>
                  </a:lnTo>
                  <a:lnTo>
                    <a:pt x="1151917" y="332750"/>
                  </a:lnTo>
                  <a:lnTo>
                    <a:pt x="1175827" y="293624"/>
                  </a:lnTo>
                  <a:lnTo>
                    <a:pt x="1197773" y="253014"/>
                  </a:lnTo>
                  <a:lnTo>
                    <a:pt x="1217673" y="210970"/>
                  </a:lnTo>
                  <a:lnTo>
                    <a:pt x="1235445" y="167539"/>
                  </a:lnTo>
                  <a:lnTo>
                    <a:pt x="1251010" y="122769"/>
                  </a:lnTo>
                  <a:lnTo>
                    <a:pt x="1264285" y="76708"/>
                  </a:lnTo>
                  <a:lnTo>
                    <a:pt x="96850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1" name="object 21"/>
            <p:cNvSpPr/>
            <p:nvPr/>
          </p:nvSpPr>
          <p:spPr>
            <a:xfrm>
              <a:off x="1711165" y="4850256"/>
              <a:ext cx="601345" cy="920750"/>
            </a:xfrm>
            <a:custGeom>
              <a:avLst/>
              <a:gdLst/>
              <a:ahLst/>
              <a:cxnLst/>
              <a:rect l="l" t="t" r="r" b="b"/>
              <a:pathLst>
                <a:path w="601344" h="920750">
                  <a:moveTo>
                    <a:pt x="13748" y="0"/>
                  </a:moveTo>
                  <a:lnTo>
                    <a:pt x="6460" y="48211"/>
                  </a:lnTo>
                  <a:lnTo>
                    <a:pt x="1892" y="96340"/>
                  </a:lnTo>
                  <a:lnTo>
                    <a:pt x="0" y="144292"/>
                  </a:lnTo>
                  <a:lnTo>
                    <a:pt x="737" y="191972"/>
                  </a:lnTo>
                  <a:lnTo>
                    <a:pt x="4059" y="239286"/>
                  </a:lnTo>
                  <a:lnTo>
                    <a:pt x="9921" y="286139"/>
                  </a:lnTo>
                  <a:lnTo>
                    <a:pt x="18277" y="332437"/>
                  </a:lnTo>
                  <a:lnTo>
                    <a:pt x="29082" y="378086"/>
                  </a:lnTo>
                  <a:lnTo>
                    <a:pt x="42292" y="422991"/>
                  </a:lnTo>
                  <a:lnTo>
                    <a:pt x="57859" y="467057"/>
                  </a:lnTo>
                  <a:lnTo>
                    <a:pt x="75741" y="510190"/>
                  </a:lnTo>
                  <a:lnTo>
                    <a:pt x="95891" y="552296"/>
                  </a:lnTo>
                  <a:lnTo>
                    <a:pt x="118263" y="593279"/>
                  </a:lnTo>
                  <a:lnTo>
                    <a:pt x="142814" y="633046"/>
                  </a:lnTo>
                  <a:lnTo>
                    <a:pt x="169497" y="671503"/>
                  </a:lnTo>
                  <a:lnTo>
                    <a:pt x="198268" y="708554"/>
                  </a:lnTo>
                  <a:lnTo>
                    <a:pt x="229081" y="744105"/>
                  </a:lnTo>
                  <a:lnTo>
                    <a:pt x="261890" y="778061"/>
                  </a:lnTo>
                  <a:lnTo>
                    <a:pt x="296652" y="810329"/>
                  </a:lnTo>
                  <a:lnTo>
                    <a:pt x="333320" y="840814"/>
                  </a:lnTo>
                  <a:lnTo>
                    <a:pt x="371849" y="869421"/>
                  </a:lnTo>
                  <a:lnTo>
                    <a:pt x="412195" y="896055"/>
                  </a:lnTo>
                  <a:lnTo>
                    <a:pt x="454311" y="920623"/>
                  </a:lnTo>
                  <a:lnTo>
                    <a:pt x="600996" y="652399"/>
                  </a:lnTo>
                  <a:lnTo>
                    <a:pt x="559483" y="627366"/>
                  </a:lnTo>
                  <a:lnTo>
                    <a:pt x="520714" y="599252"/>
                  </a:lnTo>
                  <a:lnTo>
                    <a:pt x="484795" y="568278"/>
                  </a:lnTo>
                  <a:lnTo>
                    <a:pt x="451832" y="534665"/>
                  </a:lnTo>
                  <a:lnTo>
                    <a:pt x="421931" y="498634"/>
                  </a:lnTo>
                  <a:lnTo>
                    <a:pt x="395197" y="460407"/>
                  </a:lnTo>
                  <a:lnTo>
                    <a:pt x="371737" y="420204"/>
                  </a:lnTo>
                  <a:lnTo>
                    <a:pt x="351657" y="378246"/>
                  </a:lnTo>
                  <a:lnTo>
                    <a:pt x="335061" y="334754"/>
                  </a:lnTo>
                  <a:lnTo>
                    <a:pt x="322057" y="289950"/>
                  </a:lnTo>
                  <a:lnTo>
                    <a:pt x="312750" y="244054"/>
                  </a:lnTo>
                  <a:lnTo>
                    <a:pt x="307246" y="197287"/>
                  </a:lnTo>
                  <a:lnTo>
                    <a:pt x="305651" y="149871"/>
                  </a:lnTo>
                  <a:lnTo>
                    <a:pt x="308071" y="102027"/>
                  </a:lnTo>
                  <a:lnTo>
                    <a:pt x="314611" y="53975"/>
                  </a:lnTo>
                  <a:lnTo>
                    <a:pt x="13748" y="0"/>
                  </a:lnTo>
                  <a:close/>
                </a:path>
              </a:pathLst>
            </a:custGeom>
            <a:solidFill>
              <a:srgbClr val="43AF2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1724913" y="4311522"/>
              <a:ext cx="514350" cy="593090"/>
            </a:xfrm>
            <a:custGeom>
              <a:avLst/>
              <a:gdLst/>
              <a:ahLst/>
              <a:cxnLst/>
              <a:rect l="l" t="t" r="r" b="b"/>
              <a:pathLst>
                <a:path w="514350" h="593089">
                  <a:moveTo>
                    <a:pt x="328168" y="0"/>
                  </a:moveTo>
                  <a:lnTo>
                    <a:pt x="289309" y="31608"/>
                  </a:lnTo>
                  <a:lnTo>
                    <a:pt x="252492" y="65229"/>
                  </a:lnTo>
                  <a:lnTo>
                    <a:pt x="217779" y="100760"/>
                  </a:lnTo>
                  <a:lnTo>
                    <a:pt x="185231" y="138101"/>
                  </a:lnTo>
                  <a:lnTo>
                    <a:pt x="154911" y="177148"/>
                  </a:lnTo>
                  <a:lnTo>
                    <a:pt x="126881" y="217800"/>
                  </a:lnTo>
                  <a:lnTo>
                    <a:pt x="101203" y="259955"/>
                  </a:lnTo>
                  <a:lnTo>
                    <a:pt x="77938" y="303511"/>
                  </a:lnTo>
                  <a:lnTo>
                    <a:pt x="57150" y="348365"/>
                  </a:lnTo>
                  <a:lnTo>
                    <a:pt x="38900" y="394417"/>
                  </a:lnTo>
                  <a:lnTo>
                    <a:pt x="23250" y="441563"/>
                  </a:lnTo>
                  <a:lnTo>
                    <a:pt x="10263" y="489703"/>
                  </a:lnTo>
                  <a:lnTo>
                    <a:pt x="0" y="538733"/>
                  </a:lnTo>
                  <a:lnTo>
                    <a:pt x="300863" y="592708"/>
                  </a:lnTo>
                  <a:lnTo>
                    <a:pt x="312567" y="541232"/>
                  </a:lnTo>
                  <a:lnTo>
                    <a:pt x="328894" y="491386"/>
                  </a:lnTo>
                  <a:lnTo>
                    <a:pt x="349668" y="443458"/>
                  </a:lnTo>
                  <a:lnTo>
                    <a:pt x="374713" y="397732"/>
                  </a:lnTo>
                  <a:lnTo>
                    <a:pt x="403854" y="354494"/>
                  </a:lnTo>
                  <a:lnTo>
                    <a:pt x="436915" y="314031"/>
                  </a:lnTo>
                  <a:lnTo>
                    <a:pt x="473721" y="276627"/>
                  </a:lnTo>
                  <a:lnTo>
                    <a:pt x="514096" y="242569"/>
                  </a:lnTo>
                  <a:lnTo>
                    <a:pt x="328168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3" name="object 23"/>
            <p:cNvSpPr/>
            <p:nvPr/>
          </p:nvSpPr>
          <p:spPr>
            <a:xfrm>
              <a:off x="2053081" y="4131309"/>
              <a:ext cx="531495" cy="422909"/>
            </a:xfrm>
            <a:custGeom>
              <a:avLst/>
              <a:gdLst/>
              <a:ahLst/>
              <a:cxnLst/>
              <a:rect l="l" t="t" r="r" b="b"/>
              <a:pathLst>
                <a:path w="531494" h="422910">
                  <a:moveTo>
                    <a:pt x="531368" y="0"/>
                  </a:moveTo>
                  <a:lnTo>
                    <a:pt x="479117" y="1563"/>
                  </a:lnTo>
                  <a:lnTo>
                    <a:pt x="427262" y="6225"/>
                  </a:lnTo>
                  <a:lnTo>
                    <a:pt x="375933" y="13940"/>
                  </a:lnTo>
                  <a:lnTo>
                    <a:pt x="325263" y="24663"/>
                  </a:lnTo>
                  <a:lnTo>
                    <a:pt x="275381" y="38350"/>
                  </a:lnTo>
                  <a:lnTo>
                    <a:pt x="226419" y="54956"/>
                  </a:lnTo>
                  <a:lnTo>
                    <a:pt x="178509" y="74437"/>
                  </a:lnTo>
                  <a:lnTo>
                    <a:pt x="131780" y="96748"/>
                  </a:lnTo>
                  <a:lnTo>
                    <a:pt x="86365" y="121844"/>
                  </a:lnTo>
                  <a:lnTo>
                    <a:pt x="42395" y="149680"/>
                  </a:lnTo>
                  <a:lnTo>
                    <a:pt x="0" y="180212"/>
                  </a:lnTo>
                  <a:lnTo>
                    <a:pt x="185928" y="422782"/>
                  </a:lnTo>
                  <a:lnTo>
                    <a:pt x="229742" y="392383"/>
                  </a:lnTo>
                  <a:lnTo>
                    <a:pt x="275949" y="366356"/>
                  </a:lnTo>
                  <a:lnTo>
                    <a:pt x="324221" y="344812"/>
                  </a:lnTo>
                  <a:lnTo>
                    <a:pt x="374227" y="327862"/>
                  </a:lnTo>
                  <a:lnTo>
                    <a:pt x="425639" y="315617"/>
                  </a:lnTo>
                  <a:lnTo>
                    <a:pt x="478129" y="308189"/>
                  </a:lnTo>
                  <a:lnTo>
                    <a:pt x="531368" y="305688"/>
                  </a:lnTo>
                  <a:lnTo>
                    <a:pt x="531368" y="0"/>
                  </a:lnTo>
                  <a:close/>
                </a:path>
              </a:pathLst>
            </a:custGeom>
            <a:solidFill>
              <a:srgbClr val="75787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282190" y="4218622"/>
            <a:ext cx="166688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56" dirty="0">
                <a:solidFill>
                  <a:srgbClr val="FFFFFF"/>
                </a:solidFill>
                <a:latin typeface="Arial Black"/>
                <a:cs typeface="Arial Black"/>
              </a:rPr>
              <a:t>516</a:t>
            </a:r>
            <a:endParaRPr sz="675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4294967295"/>
          </p:nvPr>
        </p:nvSpPr>
        <p:spPr>
          <a:xfrm>
            <a:off x="428625" y="5681479"/>
            <a:ext cx="142399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75">
              <a:spcBef>
                <a:spcPts val="105"/>
              </a:spcBef>
            </a:pPr>
            <a:fld id="{81D60167-4931-47E6-BA6A-407CBD079E47}" type="slidenum">
              <a:rPr spc="-38" dirty="0">
                <a:solidFill>
                  <a:srgbClr val="FFFFFF"/>
                </a:solidFill>
              </a:rPr>
              <a:pPr marL="28575">
                <a:spcBef>
                  <a:spcPts val="105"/>
                </a:spcBef>
              </a:pPr>
              <a:t>6</a:t>
            </a:fld>
            <a:endParaRPr spc="-38" dirty="0">
              <a:solidFill>
                <a:srgbClr val="FFFFFF"/>
              </a:solidFill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4294967295"/>
          </p:nvPr>
        </p:nvSpPr>
        <p:spPr>
          <a:xfrm>
            <a:off x="595350" y="5673935"/>
            <a:ext cx="20173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525">
              <a:spcBef>
                <a:spcPts val="105"/>
              </a:spcBef>
            </a:pPr>
            <a:r>
              <a:rPr spc="8" dirty="0">
                <a:solidFill>
                  <a:srgbClr val="FFFFFF"/>
                </a:solidFill>
              </a:rPr>
              <a:t>|</a:t>
            </a:r>
            <a:r>
              <a:rPr spc="244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Copyright</a:t>
            </a:r>
            <a:r>
              <a:rPr spc="86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©</a:t>
            </a:r>
            <a:r>
              <a:rPr spc="75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2025</a:t>
            </a:r>
            <a:r>
              <a:rPr spc="79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Deloitte</a:t>
            </a:r>
            <a:r>
              <a:rPr spc="120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Development</a:t>
            </a:r>
            <a:r>
              <a:rPr spc="90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LLC.</a:t>
            </a:r>
            <a:r>
              <a:rPr spc="79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All</a:t>
            </a:r>
            <a:r>
              <a:rPr spc="79" dirty="0">
                <a:solidFill>
                  <a:srgbClr val="FFFFFF"/>
                </a:solidFill>
              </a:rPr>
              <a:t> </a:t>
            </a:r>
            <a:r>
              <a:rPr spc="8" dirty="0">
                <a:solidFill>
                  <a:srgbClr val="FFFFFF"/>
                </a:solidFill>
              </a:rPr>
              <a:t>rights</a:t>
            </a:r>
            <a:r>
              <a:rPr spc="83" dirty="0">
                <a:solidFill>
                  <a:srgbClr val="FFFFFF"/>
                </a:solidFill>
              </a:rPr>
              <a:t> </a:t>
            </a:r>
            <a:r>
              <a:rPr spc="-8" dirty="0">
                <a:solidFill>
                  <a:srgbClr val="FFFFFF"/>
                </a:solidFill>
              </a:rPr>
              <a:t>reserved.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9401" y="5045507"/>
            <a:ext cx="166688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56" dirty="0">
                <a:solidFill>
                  <a:srgbClr val="FFFFFF"/>
                </a:solidFill>
                <a:latin typeface="Arial Black"/>
                <a:cs typeface="Arial Black"/>
              </a:rPr>
              <a:t>514</a:t>
            </a:r>
            <a:endParaRPr sz="675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67314" y="4782598"/>
            <a:ext cx="166688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56" dirty="0">
                <a:solidFill>
                  <a:srgbClr val="FFFFFF"/>
                </a:solidFill>
                <a:latin typeface="Arial Black"/>
                <a:cs typeface="Arial Black"/>
              </a:rPr>
              <a:t>353</a:t>
            </a:r>
            <a:endParaRPr sz="675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93411" y="4268248"/>
            <a:ext cx="166688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56" dirty="0">
                <a:solidFill>
                  <a:srgbClr val="FFFFFF"/>
                </a:solidFill>
                <a:latin typeface="Arial Black"/>
                <a:cs typeface="Arial Black"/>
              </a:rPr>
              <a:t>209</a:t>
            </a:r>
            <a:endParaRPr sz="675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81162" y="4037647"/>
            <a:ext cx="166688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56" dirty="0">
                <a:solidFill>
                  <a:srgbClr val="FFFFFF"/>
                </a:solidFill>
                <a:latin typeface="Arial Black"/>
                <a:cs typeface="Arial Black"/>
              </a:rPr>
              <a:t>185</a:t>
            </a:r>
            <a:endParaRPr sz="675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8056" y="3659314"/>
            <a:ext cx="2034064" cy="11349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675" spc="-60" dirty="0">
                <a:latin typeface="Arial Black"/>
                <a:cs typeface="Arial Black"/>
              </a:rPr>
              <a:t>Top</a:t>
            </a:r>
            <a:r>
              <a:rPr sz="675" spc="-11" dirty="0">
                <a:latin typeface="Arial Black"/>
                <a:cs typeface="Arial Black"/>
              </a:rPr>
              <a:t> </a:t>
            </a:r>
            <a:r>
              <a:rPr sz="675" spc="-34" dirty="0">
                <a:latin typeface="Arial Black"/>
                <a:cs typeface="Arial Black"/>
              </a:rPr>
              <a:t>five </a:t>
            </a:r>
            <a:r>
              <a:rPr sz="675" spc="-41" dirty="0">
                <a:latin typeface="Arial Black"/>
                <a:cs typeface="Arial Black"/>
              </a:rPr>
              <a:t>ransomware</a:t>
            </a:r>
            <a:r>
              <a:rPr sz="675" spc="-11" dirty="0">
                <a:latin typeface="Arial Black"/>
                <a:cs typeface="Arial Black"/>
              </a:rPr>
              <a:t> </a:t>
            </a:r>
            <a:r>
              <a:rPr sz="675" spc="-38" dirty="0">
                <a:latin typeface="Arial Black"/>
                <a:cs typeface="Arial Black"/>
              </a:rPr>
              <a:t>variants</a:t>
            </a:r>
            <a:r>
              <a:rPr sz="675" spc="-19" dirty="0">
                <a:latin typeface="Arial Black"/>
                <a:cs typeface="Arial Black"/>
              </a:rPr>
              <a:t> </a:t>
            </a:r>
            <a:r>
              <a:rPr sz="675" spc="-45" dirty="0">
                <a:latin typeface="Arial Black"/>
                <a:cs typeface="Arial Black"/>
              </a:rPr>
              <a:t>observed</a:t>
            </a:r>
            <a:r>
              <a:rPr sz="675" spc="-4" dirty="0">
                <a:latin typeface="Arial Black"/>
                <a:cs typeface="Arial Black"/>
              </a:rPr>
              <a:t> </a:t>
            </a:r>
            <a:r>
              <a:rPr sz="675" spc="-23" dirty="0">
                <a:latin typeface="Arial Black"/>
                <a:cs typeface="Arial Black"/>
              </a:rPr>
              <a:t>in</a:t>
            </a:r>
            <a:r>
              <a:rPr sz="675" spc="-26" dirty="0">
                <a:latin typeface="Arial Black"/>
                <a:cs typeface="Arial Black"/>
              </a:rPr>
              <a:t> </a:t>
            </a:r>
            <a:r>
              <a:rPr sz="675" spc="-23" dirty="0">
                <a:latin typeface="Arial Black"/>
                <a:cs typeface="Arial Black"/>
              </a:rPr>
              <a:t>2024</a:t>
            </a:r>
            <a:endParaRPr sz="675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181632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/>
          <p:nvPr/>
        </p:nvSpPr>
        <p:spPr>
          <a:xfrm>
            <a:off x="655372" y="3442613"/>
            <a:ext cx="2414347" cy="667812"/>
          </a:xfrm>
          <a:custGeom>
            <a:avLst/>
            <a:gdLst/>
            <a:ahLst/>
            <a:cxnLst/>
            <a:rect l="l" t="t" r="r" b="b"/>
            <a:pathLst>
              <a:path w="4749165" h="1375409">
                <a:moveTo>
                  <a:pt x="4748944" y="0"/>
                </a:moveTo>
                <a:lnTo>
                  <a:pt x="0" y="0"/>
                </a:lnTo>
                <a:lnTo>
                  <a:pt x="0" y="1374921"/>
                </a:lnTo>
                <a:lnTo>
                  <a:pt x="4748944" y="1374921"/>
                </a:lnTo>
                <a:lnTo>
                  <a:pt x="4748944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39" name="object 39"/>
          <p:cNvSpPr txBox="1"/>
          <p:nvPr/>
        </p:nvSpPr>
        <p:spPr>
          <a:xfrm>
            <a:off x="1242631" y="3498931"/>
            <a:ext cx="588613" cy="497006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>
              <a:spcBef>
                <a:spcPts val="55"/>
              </a:spcBef>
            </a:pPr>
            <a:r>
              <a:rPr sz="3184" spc="-239" dirty="0">
                <a:solidFill>
                  <a:srgbClr val="EE0C5D"/>
                </a:solidFill>
                <a:latin typeface="Arial Narrow"/>
                <a:cs typeface="Arial Narrow"/>
              </a:rPr>
              <a:t>68%</a:t>
            </a:r>
            <a:endParaRPr sz="3184" dirty="0">
              <a:latin typeface="Arial Narrow"/>
              <a:cs typeface="Arial Narro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903664" y="3553108"/>
            <a:ext cx="835633" cy="423861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R="17617">
              <a:lnSpc>
                <a:spcPct val="100800"/>
              </a:lnSpc>
              <a:spcBef>
                <a:spcPts val="43"/>
              </a:spcBef>
            </a:pPr>
            <a:r>
              <a:rPr lang="en-US" sz="900" spc="-121" dirty="0" smtClean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sz="900" spc="9" dirty="0" smtClean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91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ATTACKS </a:t>
            </a:r>
            <a:r>
              <a:rPr sz="900" spc="-39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ORIGINATE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7"/>
              </a:spcBef>
            </a:pPr>
            <a:r>
              <a:rPr sz="900" spc="-104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sz="900" spc="7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50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84612" y="3603432"/>
            <a:ext cx="295462" cy="303260"/>
            <a:chOff x="9731306" y="7047680"/>
            <a:chExt cx="649605" cy="666750"/>
          </a:xfrm>
        </p:grpSpPr>
        <p:sp>
          <p:nvSpPr>
            <p:cNvPr id="42" name="object 42"/>
            <p:cNvSpPr/>
            <p:nvPr/>
          </p:nvSpPr>
          <p:spPr>
            <a:xfrm>
              <a:off x="10291822" y="7222732"/>
              <a:ext cx="83820" cy="66675"/>
            </a:xfrm>
            <a:custGeom>
              <a:avLst/>
              <a:gdLst/>
              <a:ahLst/>
              <a:cxnLst/>
              <a:rect l="l" t="t" r="r" b="b"/>
              <a:pathLst>
                <a:path w="83820" h="66675">
                  <a:moveTo>
                    <a:pt x="83421" y="66270"/>
                  </a:moveTo>
                  <a:lnTo>
                    <a:pt x="0" y="0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3" name="object 43"/>
            <p:cNvSpPr/>
            <p:nvPr/>
          </p:nvSpPr>
          <p:spPr>
            <a:xfrm>
              <a:off x="9736551" y="7232156"/>
              <a:ext cx="78105" cy="60960"/>
            </a:xfrm>
            <a:custGeom>
              <a:avLst/>
              <a:gdLst/>
              <a:ahLst/>
              <a:cxnLst/>
              <a:rect l="l" t="t" r="r" b="b"/>
              <a:pathLst>
                <a:path w="78104" h="60959">
                  <a:moveTo>
                    <a:pt x="77641" y="0"/>
                  </a:moveTo>
                  <a:lnTo>
                    <a:pt x="0" y="60636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4" name="object 44"/>
            <p:cNvSpPr/>
            <p:nvPr/>
          </p:nvSpPr>
          <p:spPr>
            <a:xfrm>
              <a:off x="9970387" y="7052926"/>
              <a:ext cx="169545" cy="66675"/>
            </a:xfrm>
            <a:custGeom>
              <a:avLst/>
              <a:gdLst/>
              <a:ahLst/>
              <a:cxnLst/>
              <a:rect l="l" t="t" r="r" b="b"/>
              <a:pathLst>
                <a:path w="169545" h="66675">
                  <a:moveTo>
                    <a:pt x="169272" y="66657"/>
                  </a:moveTo>
                  <a:lnTo>
                    <a:pt x="85369" y="0"/>
                  </a:lnTo>
                  <a:lnTo>
                    <a:pt x="0" y="66657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5" name="object 45"/>
            <p:cNvSpPr/>
            <p:nvPr/>
          </p:nvSpPr>
          <p:spPr>
            <a:xfrm>
              <a:off x="10139660" y="7119584"/>
              <a:ext cx="152400" cy="121285"/>
            </a:xfrm>
            <a:custGeom>
              <a:avLst/>
              <a:gdLst/>
              <a:ahLst/>
              <a:cxnLst/>
              <a:rect l="l" t="t" r="r" b="b"/>
              <a:pathLst>
                <a:path w="152400" h="121284">
                  <a:moveTo>
                    <a:pt x="152162" y="120928"/>
                  </a:moveTo>
                  <a:lnTo>
                    <a:pt x="152162" y="0"/>
                  </a:lnTo>
                  <a:lnTo>
                    <a:pt x="0" y="0"/>
                  </a:lnTo>
                </a:path>
              </a:pathLst>
            </a:custGeom>
            <a:ln w="10491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6" name="object 46"/>
            <p:cNvSpPr/>
            <p:nvPr/>
          </p:nvSpPr>
          <p:spPr>
            <a:xfrm>
              <a:off x="9970387" y="7119584"/>
              <a:ext cx="169545" cy="0"/>
            </a:xfrm>
            <a:custGeom>
              <a:avLst/>
              <a:gdLst/>
              <a:ahLst/>
              <a:cxnLst/>
              <a:rect l="l" t="t" r="r" b="b"/>
              <a:pathLst>
                <a:path w="169545">
                  <a:moveTo>
                    <a:pt x="0" y="0"/>
                  </a:moveTo>
                  <a:lnTo>
                    <a:pt x="169272" y="0"/>
                  </a:lnTo>
                </a:path>
              </a:pathLst>
            </a:custGeom>
            <a:ln w="10491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7" name="object 47"/>
            <p:cNvSpPr/>
            <p:nvPr/>
          </p:nvSpPr>
          <p:spPr>
            <a:xfrm>
              <a:off x="10291822" y="7240512"/>
              <a:ext cx="0" cy="118110"/>
            </a:xfrm>
            <a:custGeom>
              <a:avLst/>
              <a:gdLst/>
              <a:ahLst/>
              <a:cxnLst/>
              <a:rect l="l" t="t" r="r" b="b"/>
              <a:pathLst>
                <a:path h="118109">
                  <a:moveTo>
                    <a:pt x="0" y="117912"/>
                  </a:moveTo>
                  <a:lnTo>
                    <a:pt x="0" y="0"/>
                  </a:lnTo>
                </a:path>
              </a:pathLst>
            </a:custGeom>
            <a:ln w="10491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8" name="object 48"/>
            <p:cNvSpPr/>
            <p:nvPr/>
          </p:nvSpPr>
          <p:spPr>
            <a:xfrm>
              <a:off x="9814183" y="7119584"/>
              <a:ext cx="156210" cy="122555"/>
            </a:xfrm>
            <a:custGeom>
              <a:avLst/>
              <a:gdLst/>
              <a:ahLst/>
              <a:cxnLst/>
              <a:rect l="l" t="t" r="r" b="b"/>
              <a:pathLst>
                <a:path w="156209" h="122554">
                  <a:moveTo>
                    <a:pt x="156204" y="0"/>
                  </a:moveTo>
                  <a:lnTo>
                    <a:pt x="0" y="0"/>
                  </a:lnTo>
                  <a:lnTo>
                    <a:pt x="0" y="121943"/>
                  </a:lnTo>
                </a:path>
              </a:pathLst>
            </a:custGeom>
            <a:ln w="10491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49" name="object 49"/>
            <p:cNvSpPr/>
            <p:nvPr/>
          </p:nvSpPr>
          <p:spPr>
            <a:xfrm>
              <a:off x="9814193" y="7241538"/>
              <a:ext cx="0" cy="117475"/>
            </a:xfrm>
            <a:custGeom>
              <a:avLst/>
              <a:gdLst/>
              <a:ahLst/>
              <a:cxnLst/>
              <a:rect l="l" t="t" r="r" b="b"/>
              <a:pathLst>
                <a:path h="117475">
                  <a:moveTo>
                    <a:pt x="0" y="0"/>
                  </a:moveTo>
                  <a:lnTo>
                    <a:pt x="0" y="116896"/>
                  </a:lnTo>
                </a:path>
              </a:pathLst>
            </a:custGeom>
            <a:ln w="10491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50" name="object 50"/>
            <p:cNvSpPr/>
            <p:nvPr/>
          </p:nvSpPr>
          <p:spPr>
            <a:xfrm>
              <a:off x="9745389" y="7503017"/>
              <a:ext cx="252095" cy="200660"/>
            </a:xfrm>
            <a:custGeom>
              <a:avLst/>
              <a:gdLst/>
              <a:ahLst/>
              <a:cxnLst/>
              <a:rect l="l" t="t" r="r" b="b"/>
              <a:pathLst>
                <a:path w="252095" h="200659">
                  <a:moveTo>
                    <a:pt x="0" y="200360"/>
                  </a:moveTo>
                  <a:lnTo>
                    <a:pt x="251814" y="0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51" name="object 51"/>
            <p:cNvSpPr/>
            <p:nvPr/>
          </p:nvSpPr>
          <p:spPr>
            <a:xfrm>
              <a:off x="10115702" y="7503017"/>
              <a:ext cx="252095" cy="200660"/>
            </a:xfrm>
            <a:custGeom>
              <a:avLst/>
              <a:gdLst/>
              <a:ahLst/>
              <a:cxnLst/>
              <a:rect l="l" t="t" r="r" b="b"/>
              <a:pathLst>
                <a:path w="252095" h="200659">
                  <a:moveTo>
                    <a:pt x="251814" y="200360"/>
                  </a:moveTo>
                  <a:lnTo>
                    <a:pt x="0" y="0"/>
                  </a:lnTo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52" name="object 52"/>
            <p:cNvSpPr/>
            <p:nvPr/>
          </p:nvSpPr>
          <p:spPr>
            <a:xfrm>
              <a:off x="9739368" y="7297212"/>
              <a:ext cx="634365" cy="412115"/>
            </a:xfrm>
            <a:custGeom>
              <a:avLst/>
              <a:gdLst/>
              <a:ahLst/>
              <a:cxnLst/>
              <a:rect l="l" t="t" r="r" b="b"/>
              <a:pathLst>
                <a:path w="634365" h="412115">
                  <a:moveTo>
                    <a:pt x="0" y="4418"/>
                  </a:moveTo>
                  <a:lnTo>
                    <a:pt x="0" y="411610"/>
                  </a:lnTo>
                  <a:lnTo>
                    <a:pt x="633938" y="411610"/>
                  </a:lnTo>
                  <a:lnTo>
                    <a:pt x="633938" y="0"/>
                  </a:lnTo>
                  <a:lnTo>
                    <a:pt x="316430" y="248652"/>
                  </a:lnTo>
                  <a:lnTo>
                    <a:pt x="0" y="4418"/>
                  </a:lnTo>
                  <a:close/>
                </a:path>
              </a:pathLst>
            </a:custGeom>
            <a:ln w="104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53" name="object 53"/>
          <p:cNvSpPr/>
          <p:nvPr/>
        </p:nvSpPr>
        <p:spPr>
          <a:xfrm>
            <a:off x="638333" y="4338910"/>
            <a:ext cx="2435995" cy="781820"/>
          </a:xfrm>
          <a:custGeom>
            <a:avLst/>
            <a:gdLst/>
            <a:ahLst/>
            <a:cxnLst/>
            <a:rect l="l" t="t" r="r" b="b"/>
            <a:pathLst>
              <a:path w="4749165" h="1375409">
                <a:moveTo>
                  <a:pt x="4748944" y="0"/>
                </a:moveTo>
                <a:lnTo>
                  <a:pt x="0" y="0"/>
                </a:lnTo>
                <a:lnTo>
                  <a:pt x="0" y="1374921"/>
                </a:lnTo>
                <a:lnTo>
                  <a:pt x="4748944" y="1374921"/>
                </a:lnTo>
                <a:lnTo>
                  <a:pt x="474894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819"/>
          </a:p>
        </p:txBody>
      </p:sp>
      <p:sp>
        <p:nvSpPr>
          <p:cNvPr id="54" name="object 54"/>
          <p:cNvSpPr txBox="1"/>
          <p:nvPr/>
        </p:nvSpPr>
        <p:spPr>
          <a:xfrm>
            <a:off x="1193402" y="4395238"/>
            <a:ext cx="562619" cy="497006"/>
          </a:xfrm>
          <a:prstGeom prst="rect">
            <a:avLst/>
          </a:prstGeom>
        </p:spPr>
        <p:txBody>
          <a:bodyPr vert="horz" wrap="square" lIns="0" tIns="6932" rIns="0" bIns="0" rtlCol="0">
            <a:spAutoFit/>
          </a:bodyPr>
          <a:lstStyle/>
          <a:p>
            <a:pPr>
              <a:spcBef>
                <a:spcPts val="55"/>
              </a:spcBef>
            </a:pPr>
            <a:r>
              <a:rPr sz="3184" spc="-321" dirty="0">
                <a:solidFill>
                  <a:srgbClr val="EE0C5D"/>
                </a:solidFill>
                <a:latin typeface="Arial Narrow"/>
                <a:cs typeface="Arial Narrow"/>
              </a:rPr>
              <a:t>61%</a:t>
            </a:r>
            <a:endParaRPr sz="3184" dirty="0">
              <a:latin typeface="Arial Narrow"/>
              <a:cs typeface="Arial Narrow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31244" y="4466203"/>
            <a:ext cx="1083752" cy="565182"/>
          </a:xfrm>
          <a:prstGeom prst="rect">
            <a:avLst/>
          </a:prstGeom>
        </p:spPr>
        <p:txBody>
          <a:bodyPr vert="horz" wrap="square" lIns="0" tIns="5488" rIns="0" bIns="0" rtlCol="0">
            <a:spAutoFit/>
          </a:bodyPr>
          <a:lstStyle/>
          <a:p>
            <a:pPr marR="2310">
              <a:lnSpc>
                <a:spcPct val="100800"/>
              </a:lnSpc>
              <a:spcBef>
                <a:spcPts val="43"/>
              </a:spcBef>
            </a:pPr>
            <a:r>
              <a:rPr sz="900" spc="-127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sz="900" spc="-5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73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EMAIL-</a:t>
            </a:r>
            <a:r>
              <a:rPr sz="900" spc="-55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DELIVERED </a:t>
            </a:r>
            <a:r>
              <a:rPr sz="900" spc="-102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MALICIOUS</a:t>
            </a:r>
            <a:r>
              <a:rPr sz="900" spc="-39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98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</a:t>
            </a:r>
            <a:r>
              <a:rPr sz="900" spc="-36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107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sz="900" spc="-93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HTML</a:t>
            </a:r>
            <a:r>
              <a:rPr sz="900" spc="-16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900" spc="-68" dirty="0">
                <a:solidFill>
                  <a:srgbClr val="41273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ATTACHMENTS</a:t>
            </a:r>
            <a:endParaRPr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71351" y="4533702"/>
            <a:ext cx="307592" cy="279288"/>
            <a:chOff x="15053995" y="7122352"/>
            <a:chExt cx="676275" cy="614045"/>
          </a:xfrm>
        </p:grpSpPr>
        <p:sp>
          <p:nvSpPr>
            <p:cNvPr id="57" name="object 57"/>
            <p:cNvSpPr/>
            <p:nvPr/>
          </p:nvSpPr>
          <p:spPr>
            <a:xfrm>
              <a:off x="15093310" y="7311498"/>
              <a:ext cx="175895" cy="176530"/>
            </a:xfrm>
            <a:custGeom>
              <a:avLst/>
              <a:gdLst/>
              <a:ahLst/>
              <a:cxnLst/>
              <a:rect l="l" t="t" r="r" b="b"/>
              <a:pathLst>
                <a:path w="175894" h="176529">
                  <a:moveTo>
                    <a:pt x="126959" y="175990"/>
                  </a:moveTo>
                  <a:lnTo>
                    <a:pt x="167462" y="129768"/>
                  </a:lnTo>
                  <a:lnTo>
                    <a:pt x="175333" y="93952"/>
                  </a:lnTo>
                  <a:lnTo>
                    <a:pt x="169286" y="58287"/>
                  </a:lnTo>
                  <a:lnTo>
                    <a:pt x="149199" y="27094"/>
                  </a:lnTo>
                  <a:lnTo>
                    <a:pt x="118304" y="6573"/>
                  </a:lnTo>
                  <a:lnTo>
                    <a:pt x="82725" y="0"/>
                  </a:lnTo>
                  <a:lnTo>
                    <a:pt x="46792" y="7332"/>
                  </a:lnTo>
                  <a:lnTo>
                    <a:pt x="14837" y="28529"/>
                  </a:lnTo>
                  <a:lnTo>
                    <a:pt x="9004" y="34267"/>
                  </a:lnTo>
                  <a:lnTo>
                    <a:pt x="4073" y="40507"/>
                  </a:lnTo>
                  <a:lnTo>
                    <a:pt x="0" y="47146"/>
                  </a:lnTo>
                </a:path>
              </a:pathLst>
            </a:custGeom>
            <a:ln w="9685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pic>
          <p:nvPicPr>
            <p:cNvPr id="58" name="object 5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28909" y="7165426"/>
              <a:ext cx="104147" cy="10411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15091268" y="7360613"/>
              <a:ext cx="127000" cy="128905"/>
            </a:xfrm>
            <a:custGeom>
              <a:avLst/>
              <a:gdLst/>
              <a:ahLst/>
              <a:cxnLst/>
              <a:rect l="l" t="t" r="r" b="b"/>
              <a:pathLst>
                <a:path w="127000" h="128904">
                  <a:moveTo>
                    <a:pt x="0" y="0"/>
                  </a:moveTo>
                  <a:lnTo>
                    <a:pt x="126959" y="128896"/>
                  </a:lnTo>
                </a:path>
              </a:pathLst>
            </a:custGeom>
            <a:ln w="9685">
              <a:solidFill>
                <a:srgbClr val="ED135E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  <p:sp>
          <p:nvSpPr>
            <p:cNvPr id="60" name="object 60"/>
            <p:cNvSpPr/>
            <p:nvPr/>
          </p:nvSpPr>
          <p:spPr>
            <a:xfrm>
              <a:off x="15058838" y="7127194"/>
              <a:ext cx="666750" cy="603885"/>
            </a:xfrm>
            <a:custGeom>
              <a:avLst/>
              <a:gdLst/>
              <a:ahLst/>
              <a:cxnLst/>
              <a:rect l="l" t="t" r="r" b="b"/>
              <a:pathLst>
                <a:path w="666750" h="603884">
                  <a:moveTo>
                    <a:pt x="250015" y="327824"/>
                  </a:moveTo>
                  <a:lnTo>
                    <a:pt x="409130" y="486939"/>
                  </a:lnTo>
                  <a:lnTo>
                    <a:pt x="441957" y="508738"/>
                  </a:lnTo>
                  <a:lnTo>
                    <a:pt x="516639" y="508738"/>
                  </a:lnTo>
                  <a:lnTo>
                    <a:pt x="549461" y="486939"/>
                  </a:lnTo>
                  <a:lnTo>
                    <a:pt x="571259" y="454118"/>
                  </a:lnTo>
                  <a:lnTo>
                    <a:pt x="571259" y="379440"/>
                  </a:lnTo>
                  <a:lnTo>
                    <a:pt x="549461" y="346619"/>
                  </a:lnTo>
                  <a:lnTo>
                    <a:pt x="242161" y="40167"/>
                  </a:lnTo>
                  <a:lnTo>
                    <a:pt x="205088" y="13389"/>
                  </a:lnTo>
                  <a:lnTo>
                    <a:pt x="163029" y="0"/>
                  </a:lnTo>
                  <a:lnTo>
                    <a:pt x="119307" y="0"/>
                  </a:lnTo>
                  <a:lnTo>
                    <a:pt x="77246" y="13389"/>
                  </a:lnTo>
                  <a:lnTo>
                    <a:pt x="40167" y="40167"/>
                  </a:lnTo>
                  <a:lnTo>
                    <a:pt x="13389" y="77242"/>
                  </a:lnTo>
                  <a:lnTo>
                    <a:pt x="0" y="119303"/>
                  </a:lnTo>
                  <a:lnTo>
                    <a:pt x="0" y="163026"/>
                  </a:lnTo>
                  <a:lnTo>
                    <a:pt x="13389" y="205087"/>
                  </a:lnTo>
                  <a:lnTo>
                    <a:pt x="40167" y="242161"/>
                  </a:lnTo>
                  <a:lnTo>
                    <a:pt x="347017" y="549011"/>
                  </a:lnTo>
                  <a:lnTo>
                    <a:pt x="386886" y="579433"/>
                  </a:lnTo>
                  <a:lnTo>
                    <a:pt x="431798" y="597686"/>
                  </a:lnTo>
                  <a:lnTo>
                    <a:pt x="479231" y="603771"/>
                  </a:lnTo>
                  <a:lnTo>
                    <a:pt x="526664" y="597686"/>
                  </a:lnTo>
                  <a:lnTo>
                    <a:pt x="571573" y="579433"/>
                  </a:lnTo>
                  <a:lnTo>
                    <a:pt x="611438" y="549011"/>
                  </a:lnTo>
                  <a:lnTo>
                    <a:pt x="641860" y="509142"/>
                  </a:lnTo>
                  <a:lnTo>
                    <a:pt x="660114" y="464232"/>
                  </a:lnTo>
                  <a:lnTo>
                    <a:pt x="666198" y="416800"/>
                  </a:lnTo>
                  <a:lnTo>
                    <a:pt x="660114" y="369368"/>
                  </a:lnTo>
                  <a:lnTo>
                    <a:pt x="641860" y="324458"/>
                  </a:lnTo>
                  <a:lnTo>
                    <a:pt x="611438" y="284589"/>
                  </a:lnTo>
                  <a:lnTo>
                    <a:pt x="358231" y="31382"/>
                  </a:lnTo>
                </a:path>
              </a:pathLst>
            </a:custGeom>
            <a:ln w="9685">
              <a:solidFill>
                <a:srgbClr val="1E0413"/>
              </a:solidFill>
            </a:ln>
          </p:spPr>
          <p:txBody>
            <a:bodyPr wrap="square" lIns="0" tIns="0" rIns="0" bIns="0" rtlCol="0"/>
            <a:lstStyle/>
            <a:p>
              <a:endParaRPr sz="819"/>
            </a:p>
          </p:txBody>
        </p:sp>
      </p:grpSp>
      <p:sp>
        <p:nvSpPr>
          <p:cNvPr id="129" name="object 2"/>
          <p:cNvSpPr txBox="1">
            <a:spLocks noGrp="1"/>
          </p:cNvSpPr>
          <p:nvPr>
            <p:ph type="title"/>
          </p:nvPr>
        </p:nvSpPr>
        <p:spPr>
          <a:xfrm>
            <a:off x="638333" y="657238"/>
            <a:ext cx="805180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21431">
              <a:spcBef>
                <a:spcPts val="79"/>
              </a:spcBef>
            </a:pPr>
            <a:r>
              <a:rPr sz="2400" spc="-116" dirty="0">
                <a:latin typeface="Arial Black" panose="020B0A04020102020204" pitchFamily="34" charset="0"/>
              </a:rPr>
              <a:t>Threat</a:t>
            </a:r>
            <a:r>
              <a:rPr sz="2400" spc="-94" dirty="0">
                <a:latin typeface="Arial Black" panose="020B0A04020102020204" pitchFamily="34" charset="0"/>
              </a:rPr>
              <a:t> </a:t>
            </a:r>
            <a:r>
              <a:rPr sz="2400" spc="-127" dirty="0">
                <a:latin typeface="Arial Black" panose="020B0A04020102020204" pitchFamily="34" charset="0"/>
              </a:rPr>
              <a:t>vector</a:t>
            </a:r>
            <a:r>
              <a:rPr sz="2400" spc="-94" dirty="0">
                <a:latin typeface="Arial Black" panose="020B0A04020102020204" pitchFamily="34" charset="0"/>
              </a:rPr>
              <a:t> </a:t>
            </a:r>
            <a:r>
              <a:rPr sz="2400" spc="413" dirty="0" smtClean="0">
                <a:latin typeface="Arial Black" panose="020B0A04020102020204" pitchFamily="34" charset="0"/>
              </a:rPr>
              <a:t>|</a:t>
            </a:r>
            <a:r>
              <a:rPr sz="2400" spc="-94" dirty="0" smtClean="0">
                <a:latin typeface="Arial Black" panose="020B0A04020102020204" pitchFamily="34" charset="0"/>
              </a:rPr>
              <a:t> </a:t>
            </a:r>
            <a:r>
              <a:rPr lang="en-US" sz="2400" spc="-101" dirty="0" smtClean="0">
                <a:latin typeface="Arial Black" panose="020B0A04020102020204" pitchFamily="34" charset="0"/>
              </a:rPr>
              <a:t>Email &amp; Web</a:t>
            </a:r>
            <a:endParaRPr sz="2400" spc="-101" dirty="0">
              <a:latin typeface="Arial Black" panose="020B0A04020102020204" pitchFamily="34" charset="0"/>
            </a:endParaRPr>
          </a:p>
        </p:txBody>
      </p:sp>
      <p:pic>
        <p:nvPicPr>
          <p:cNvPr id="147" name="Picture 1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6" y="1442868"/>
            <a:ext cx="3264684" cy="1446826"/>
          </a:xfrm>
          <a:prstGeom prst="rect">
            <a:avLst/>
          </a:prstGeom>
        </p:spPr>
      </p:pic>
      <p:sp>
        <p:nvSpPr>
          <p:cNvPr id="148" name="object 3"/>
          <p:cNvSpPr txBox="1"/>
          <p:nvPr/>
        </p:nvSpPr>
        <p:spPr>
          <a:xfrm>
            <a:off x="3671430" y="1532269"/>
            <a:ext cx="26542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Email trends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149" name="object 4"/>
          <p:cNvSpPr txBox="1"/>
          <p:nvPr/>
        </p:nvSpPr>
        <p:spPr>
          <a:xfrm>
            <a:off x="3662286" y="1830407"/>
            <a:ext cx="5270182" cy="95907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 smtClean="0">
                <a:solidFill>
                  <a:srgbClr val="41273C"/>
                </a:solidFill>
                <a:cs typeface="Tahoma"/>
              </a:rPr>
              <a:t>Email-based</a:t>
            </a:r>
            <a:r>
              <a:rPr lang="en-US" sz="1200" spc="-60" dirty="0" smtClean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10" dirty="0">
                <a:solidFill>
                  <a:srgbClr val="41273C"/>
                </a:solidFill>
                <a:cs typeface="Tahoma"/>
              </a:rPr>
              <a:t>attacks</a:t>
            </a:r>
            <a:r>
              <a:rPr lang="en-US" sz="1200" spc="-55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remain</a:t>
            </a:r>
            <a:r>
              <a:rPr lang="en-US" sz="1200" spc="-6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10" dirty="0">
                <a:solidFill>
                  <a:srgbClr val="41273C"/>
                </a:solidFill>
                <a:cs typeface="Tahoma"/>
              </a:rPr>
              <a:t>the</a:t>
            </a:r>
            <a:r>
              <a:rPr lang="en-US" sz="1200" spc="-55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20" dirty="0">
                <a:solidFill>
                  <a:srgbClr val="41273C"/>
                </a:solidFill>
                <a:cs typeface="Tahoma"/>
              </a:rPr>
              <a:t>dominant</a:t>
            </a:r>
            <a:r>
              <a:rPr lang="en-US" sz="1200" spc="-6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initial</a:t>
            </a:r>
            <a:r>
              <a:rPr lang="en-US" sz="1200" spc="-55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10" dirty="0">
                <a:solidFill>
                  <a:srgbClr val="41273C"/>
                </a:solidFill>
                <a:cs typeface="Tahoma"/>
              </a:rPr>
              <a:t>attack</a:t>
            </a:r>
            <a:r>
              <a:rPr lang="en-US" sz="1200" spc="-6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10" dirty="0">
                <a:solidFill>
                  <a:srgbClr val="41273C"/>
                </a:solidFill>
                <a:cs typeface="Tahoma"/>
              </a:rPr>
              <a:t>vector, </a:t>
            </a:r>
            <a:r>
              <a:rPr lang="en-US" sz="1200" spc="-25" dirty="0">
                <a:solidFill>
                  <a:srgbClr val="41273C"/>
                </a:solidFill>
                <a:cs typeface="Tahoma"/>
              </a:rPr>
              <a:t>with</a:t>
            </a:r>
            <a:r>
              <a:rPr lang="en-US" sz="1200" spc="-5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85" dirty="0">
                <a:solidFill>
                  <a:srgbClr val="41273C"/>
                </a:solidFill>
                <a:cs typeface="Tahoma"/>
              </a:rPr>
              <a:t>68%</a:t>
            </a:r>
            <a:r>
              <a:rPr lang="en-US" sz="1200" spc="-7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spc="-10" dirty="0">
                <a:solidFill>
                  <a:srgbClr val="41273C"/>
                </a:solidFill>
                <a:cs typeface="Tahoma"/>
              </a:rPr>
              <a:t>of</a:t>
            </a:r>
            <a:r>
              <a:rPr lang="en-US" sz="1200" spc="-7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attacks</a:t>
            </a:r>
            <a:r>
              <a:rPr lang="en-US" sz="1200" spc="-65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originating</a:t>
            </a:r>
            <a:r>
              <a:rPr lang="en-US" sz="1200" spc="-7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from</a:t>
            </a:r>
            <a:r>
              <a:rPr lang="en-US" sz="1200" spc="-70" dirty="0">
                <a:solidFill>
                  <a:srgbClr val="41273C"/>
                </a:solidFill>
                <a:cs typeface="Tahoma"/>
              </a:rPr>
              <a:t>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email.</a:t>
            </a:r>
            <a:r>
              <a:rPr lang="en-US" sz="1200" spc="15" dirty="0" smtClean="0">
                <a:cs typeface="Calibri"/>
              </a:rPr>
              <a:t> (</a:t>
            </a:r>
            <a:r>
              <a:rPr lang="en-US" sz="1200" spc="15" dirty="0" smtClean="0">
                <a:cs typeface="Calibri"/>
                <a:hlinkClick r:id="rId4"/>
              </a:rPr>
              <a:t>Check Point Cyber Security Report 2025</a:t>
            </a:r>
            <a:r>
              <a:rPr lang="en-US" sz="1200" spc="15" dirty="0" smtClean="0">
                <a:cs typeface="Calibri"/>
              </a:rPr>
              <a:t>).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Attackers </a:t>
            </a:r>
            <a:r>
              <a:rPr lang="en-US" sz="1200" spc="15" dirty="0">
                <a:cs typeface="Calibri"/>
              </a:rPr>
              <a:t>attach malicious </a:t>
            </a:r>
            <a:r>
              <a:rPr lang="en-US" sz="1200" spc="15" dirty="0" smtClean="0">
                <a:cs typeface="Calibri"/>
              </a:rPr>
              <a:t>HTML&amp; PDF files which are then used to carry-out phishing</a:t>
            </a:r>
            <a:r>
              <a:rPr lang="en-US" sz="1200" spc="15" dirty="0">
                <a:cs typeface="Calibri"/>
              </a:rPr>
              <a:t>, credential theft, and HTML smuggling</a:t>
            </a:r>
            <a:r>
              <a:rPr lang="en-US" sz="1200" spc="15" dirty="0" smtClean="0">
                <a:cs typeface="Calibri"/>
              </a:rPr>
              <a:t>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endParaRPr lang="en-US" sz="1200" spc="15" dirty="0" smtClean="0">
              <a:cs typeface="Calibri"/>
            </a:endParaRPr>
          </a:p>
        </p:txBody>
      </p:sp>
      <p:sp>
        <p:nvSpPr>
          <p:cNvPr id="151" name="object 6"/>
          <p:cNvSpPr txBox="1"/>
          <p:nvPr/>
        </p:nvSpPr>
        <p:spPr>
          <a:xfrm>
            <a:off x="3688877" y="3854183"/>
            <a:ext cx="5273516" cy="61491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8589" marR="4763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 smtClean="0">
                <a:cs typeface="Calibri"/>
              </a:rPr>
              <a:t>32% </a:t>
            </a:r>
            <a:r>
              <a:rPr lang="en-US" sz="1200" dirty="0">
                <a:cs typeface="Calibri"/>
              </a:rPr>
              <a:t>rise in web-delivered </a:t>
            </a:r>
            <a:r>
              <a:rPr lang="en-US" sz="1200" dirty="0" smtClean="0">
                <a:cs typeface="Calibri"/>
              </a:rPr>
              <a:t>attacks.</a:t>
            </a:r>
          </a:p>
          <a:p>
            <a:pPr marL="138589" marR="4763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 smtClean="0">
                <a:cs typeface="Calibri"/>
              </a:rPr>
              <a:t>Most common attack </a:t>
            </a:r>
            <a:r>
              <a:rPr lang="en-US" sz="1200" dirty="0">
                <a:cs typeface="Calibri"/>
              </a:rPr>
              <a:t>types include </a:t>
            </a:r>
            <a:r>
              <a:rPr lang="en-US" sz="1200" dirty="0" smtClean="0">
                <a:cs typeface="Calibri"/>
              </a:rPr>
              <a:t>drive-by downloads &amp; fake updates.</a:t>
            </a:r>
          </a:p>
          <a:p>
            <a:pPr marL="138589" marR="4763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endParaRPr sz="1200" dirty="0">
              <a:cs typeface="Calibri"/>
            </a:endParaRPr>
          </a:p>
        </p:txBody>
      </p:sp>
      <p:sp>
        <p:nvSpPr>
          <p:cNvPr id="152" name="object 5"/>
          <p:cNvSpPr txBox="1"/>
          <p:nvPr/>
        </p:nvSpPr>
        <p:spPr>
          <a:xfrm>
            <a:off x="3688877" y="3492821"/>
            <a:ext cx="24764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Web trends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690450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 txBox="1">
            <a:spLocks noGrp="1"/>
          </p:cNvSpPr>
          <p:nvPr>
            <p:ph type="title"/>
          </p:nvPr>
        </p:nvSpPr>
        <p:spPr>
          <a:xfrm>
            <a:off x="638333" y="657238"/>
            <a:ext cx="805180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21431">
              <a:spcBef>
                <a:spcPts val="79"/>
              </a:spcBef>
            </a:pPr>
            <a:r>
              <a:rPr lang="en-US" sz="2400" spc="-116" dirty="0" smtClean="0">
                <a:latin typeface="Arial Black" panose="020B0A04020102020204" pitchFamily="34" charset="0"/>
              </a:rPr>
              <a:t>Emerging </a:t>
            </a:r>
            <a:r>
              <a:rPr sz="2400" spc="-116" dirty="0" smtClean="0">
                <a:latin typeface="Arial Black" panose="020B0A04020102020204" pitchFamily="34" charset="0"/>
              </a:rPr>
              <a:t>Threat</a:t>
            </a:r>
            <a:r>
              <a:rPr sz="2400" spc="-94" dirty="0" smtClean="0">
                <a:latin typeface="Arial Black" panose="020B0A04020102020204" pitchFamily="34" charset="0"/>
              </a:rPr>
              <a:t> </a:t>
            </a:r>
            <a:r>
              <a:rPr sz="2400" spc="413" dirty="0" smtClean="0">
                <a:latin typeface="Arial Black" panose="020B0A04020102020204" pitchFamily="34" charset="0"/>
              </a:rPr>
              <a:t>|</a:t>
            </a:r>
            <a:r>
              <a:rPr sz="2400" spc="-94" dirty="0" smtClean="0">
                <a:latin typeface="Arial Black" panose="020B0A04020102020204" pitchFamily="34" charset="0"/>
              </a:rPr>
              <a:t> </a:t>
            </a:r>
            <a:r>
              <a:rPr lang="en-US" sz="2400" spc="-101" dirty="0" smtClean="0">
                <a:latin typeface="Arial Black" panose="020B0A04020102020204" pitchFamily="34" charset="0"/>
              </a:rPr>
              <a:t>AI</a:t>
            </a:r>
            <a:endParaRPr sz="2400" spc="-101" dirty="0">
              <a:latin typeface="Arial Black" panose="020B0A04020102020204" pitchFamily="34" charset="0"/>
            </a:endParaRPr>
          </a:p>
        </p:txBody>
      </p:sp>
      <p:sp>
        <p:nvSpPr>
          <p:cNvPr id="148" name="object 3"/>
          <p:cNvSpPr txBox="1"/>
          <p:nvPr/>
        </p:nvSpPr>
        <p:spPr>
          <a:xfrm>
            <a:off x="638333" y="1521566"/>
            <a:ext cx="26542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AI for Malware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149" name="object 4"/>
          <p:cNvSpPr txBox="1"/>
          <p:nvPr/>
        </p:nvSpPr>
        <p:spPr>
          <a:xfrm>
            <a:off x="927100" y="1830407"/>
            <a:ext cx="8005368" cy="77441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>
                <a:solidFill>
                  <a:srgbClr val="41273C"/>
                </a:solidFill>
                <a:cs typeface="Tahoma"/>
              </a:rPr>
              <a:t>Cyber attackers are </a:t>
            </a:r>
            <a:r>
              <a:rPr lang="en-US" sz="1200" dirty="0" err="1">
                <a:solidFill>
                  <a:srgbClr val="41273C"/>
                </a:solidFill>
                <a:cs typeface="Tahoma"/>
              </a:rPr>
              <a:t>weaponizing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 AI to automate every stage of the attack chain — from writing </a:t>
            </a:r>
            <a:r>
              <a:rPr lang="en-US" sz="1200" dirty="0" smtClean="0">
                <a:solidFill>
                  <a:srgbClr val="41273C"/>
                </a:solidFill>
                <a:cs typeface="Tahoma"/>
              </a:rPr>
              <a:t>malware code, phishing 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kits to generating </a:t>
            </a:r>
            <a:r>
              <a:rPr lang="en-US" sz="1200" dirty="0" err="1">
                <a:solidFill>
                  <a:srgbClr val="41273C"/>
                </a:solidFill>
                <a:cs typeface="Tahoma"/>
              </a:rPr>
              <a:t>deepfakes</a:t>
            </a:r>
            <a:r>
              <a:rPr lang="en-US" sz="1200" dirty="0">
                <a:solidFill>
                  <a:srgbClr val="41273C"/>
                </a:solidFill>
                <a:cs typeface="Tahoma"/>
              </a:rPr>
              <a:t> and data-stealing tools.</a:t>
            </a:r>
            <a:r>
              <a:rPr lang="en-US" sz="1200" spc="15" dirty="0" smtClean="0">
                <a:cs typeface="Calibri"/>
              </a:rPr>
              <a:t> (</a:t>
            </a:r>
            <a:r>
              <a:rPr lang="en-US" sz="1200" spc="15" dirty="0" smtClean="0">
                <a:cs typeface="Calibri"/>
                <a:hlinkClick r:id="rId2"/>
              </a:rPr>
              <a:t>Check Point AI Security Report 2025</a:t>
            </a:r>
            <a:r>
              <a:rPr lang="en-US" sz="1200" spc="15" dirty="0" smtClean="0">
                <a:cs typeface="Calibri"/>
              </a:rPr>
              <a:t>).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/>
              <a:t>Emerging groups like </a:t>
            </a:r>
            <a:r>
              <a:rPr lang="en-US" sz="1200" dirty="0" err="1"/>
              <a:t>FunkSec</a:t>
            </a:r>
            <a:r>
              <a:rPr lang="en-US" sz="1200" dirty="0"/>
              <a:t> are leading this trend, using AI to enhance </a:t>
            </a:r>
            <a:r>
              <a:rPr lang="en-US" sz="1200" dirty="0" err="1"/>
              <a:t>ransomware</a:t>
            </a:r>
            <a:r>
              <a:rPr lang="en-US" sz="1200" dirty="0"/>
              <a:t> precision and speed.</a:t>
            </a:r>
            <a:endParaRPr lang="en-US" sz="1200" spc="15" dirty="0" smtClean="0">
              <a:cs typeface="Calibri"/>
            </a:endParaRP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endParaRPr lang="en-US" sz="1200" spc="15" dirty="0" smtClean="0">
              <a:cs typeface="Calibri"/>
            </a:endParaRPr>
          </a:p>
        </p:txBody>
      </p:sp>
      <p:sp>
        <p:nvSpPr>
          <p:cNvPr id="151" name="object 6"/>
          <p:cNvSpPr txBox="1"/>
          <p:nvPr/>
        </p:nvSpPr>
        <p:spPr>
          <a:xfrm>
            <a:off x="912137" y="2943420"/>
            <a:ext cx="8035293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8589" marR="4763" indent="-129540">
              <a:spcBef>
                <a:spcPts val="153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/>
              <a:t>Malicious AI models such as </a:t>
            </a:r>
            <a:r>
              <a:rPr lang="en-US" sz="1200" dirty="0" err="1"/>
              <a:t>WormGPT</a:t>
            </a:r>
            <a:r>
              <a:rPr lang="en-US" sz="1200" dirty="0"/>
              <a:t> </a:t>
            </a:r>
            <a:r>
              <a:rPr lang="en-US" sz="1200" dirty="0" smtClean="0"/>
              <a:t>are </a:t>
            </a:r>
            <a:r>
              <a:rPr lang="en-US" sz="1200" dirty="0"/>
              <a:t>now being sold on underground forums, capable of writing malware and social-engineering scripts without ethical </a:t>
            </a:r>
            <a:r>
              <a:rPr lang="en-US" sz="1200" dirty="0" smtClean="0"/>
              <a:t>limits.</a:t>
            </a:r>
            <a:endParaRPr sz="1200" dirty="0">
              <a:cs typeface="Calibri"/>
            </a:endParaRPr>
          </a:p>
        </p:txBody>
      </p:sp>
      <p:sp>
        <p:nvSpPr>
          <p:cNvPr id="152" name="object 5"/>
          <p:cNvSpPr txBox="1"/>
          <p:nvPr/>
        </p:nvSpPr>
        <p:spPr>
          <a:xfrm>
            <a:off x="638333" y="2604817"/>
            <a:ext cx="4606767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AI Models used by Cyber Criminals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954" y="3635547"/>
            <a:ext cx="6246558" cy="294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 txBox="1">
            <a:spLocks noGrp="1"/>
          </p:cNvSpPr>
          <p:nvPr>
            <p:ph type="title"/>
          </p:nvPr>
        </p:nvSpPr>
        <p:spPr>
          <a:xfrm>
            <a:off x="638333" y="657238"/>
            <a:ext cx="805180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21431">
              <a:spcBef>
                <a:spcPts val="79"/>
              </a:spcBef>
            </a:pPr>
            <a:r>
              <a:rPr lang="en-US" sz="2400" spc="-116" dirty="0" smtClean="0">
                <a:latin typeface="Arial Black" panose="020B0A04020102020204" pitchFamily="34" charset="0"/>
              </a:rPr>
              <a:t>Cyber Security Gap</a:t>
            </a:r>
            <a:endParaRPr sz="2400" spc="-101" dirty="0">
              <a:latin typeface="Arial Black" panose="020B0A04020102020204" pitchFamily="34" charset="0"/>
            </a:endParaRPr>
          </a:p>
        </p:txBody>
      </p:sp>
      <p:sp>
        <p:nvSpPr>
          <p:cNvPr id="148" name="object 3"/>
          <p:cNvSpPr txBox="1"/>
          <p:nvPr/>
        </p:nvSpPr>
        <p:spPr>
          <a:xfrm>
            <a:off x="638333" y="1521566"/>
            <a:ext cx="3489167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Lack of Skills &amp; Training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149" name="object 4"/>
          <p:cNvSpPr txBox="1"/>
          <p:nvPr/>
        </p:nvSpPr>
        <p:spPr>
          <a:xfrm>
            <a:off x="927100" y="1830407"/>
            <a:ext cx="8005368" cy="57692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>
                <a:cs typeface="Calibri"/>
              </a:rPr>
              <a:t>58% of security breaches stem from insufficient </a:t>
            </a:r>
            <a:r>
              <a:rPr lang="en-US" sz="1200" spc="15" dirty="0" err="1">
                <a:cs typeface="Calibri"/>
              </a:rPr>
              <a:t>cybersecurity</a:t>
            </a:r>
            <a:r>
              <a:rPr lang="en-US" sz="1200" spc="15" dirty="0">
                <a:cs typeface="Calibri"/>
              </a:rPr>
              <a:t> skills or training among IT staff </a:t>
            </a:r>
            <a:r>
              <a:rPr lang="en-US" sz="1200" spc="15" dirty="0" smtClean="0">
                <a:cs typeface="Calibri"/>
              </a:rPr>
              <a:t>(</a:t>
            </a:r>
            <a:r>
              <a:rPr lang="en-US" sz="1200" spc="15" dirty="0" err="1" smtClean="0">
                <a:cs typeface="Calibri"/>
                <a:hlinkClick r:id="rId2"/>
              </a:rPr>
              <a:t>Fortinet</a:t>
            </a:r>
            <a:r>
              <a:rPr lang="en-US" sz="1200" spc="15" dirty="0" smtClean="0">
                <a:cs typeface="Calibri"/>
                <a:hlinkClick r:id="rId2"/>
              </a:rPr>
              <a:t> </a:t>
            </a:r>
            <a:r>
              <a:rPr lang="en-US" sz="1200" spc="15" dirty="0" err="1" smtClean="0">
                <a:cs typeface="Calibri"/>
                <a:hlinkClick r:id="rId2"/>
              </a:rPr>
              <a:t>Cybersecurity</a:t>
            </a:r>
            <a:r>
              <a:rPr lang="en-US" sz="1200" spc="15" dirty="0" smtClean="0">
                <a:cs typeface="Calibri"/>
                <a:hlinkClick r:id="rId2"/>
              </a:rPr>
              <a:t> Skills Gap Report 2025</a:t>
            </a:r>
            <a:r>
              <a:rPr lang="en-US" sz="1200" spc="15" dirty="0" smtClean="0">
                <a:cs typeface="Calibri"/>
              </a:rPr>
              <a:t>).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/>
              <a:t>Hiring skilled </a:t>
            </a:r>
            <a:r>
              <a:rPr lang="en-US" sz="1200" dirty="0" err="1"/>
              <a:t>cybersecurity</a:t>
            </a:r>
            <a:r>
              <a:rPr lang="en-US" sz="1200" dirty="0"/>
              <a:t> professionals remains a major challenge.</a:t>
            </a:r>
            <a:endParaRPr lang="en-US" sz="1200" spc="15" dirty="0" smtClean="0">
              <a:cs typeface="Calibri"/>
            </a:endParaRPr>
          </a:p>
        </p:txBody>
      </p:sp>
      <p:sp>
        <p:nvSpPr>
          <p:cNvPr id="151" name="object 6"/>
          <p:cNvSpPr txBox="1"/>
          <p:nvPr/>
        </p:nvSpPr>
        <p:spPr>
          <a:xfrm>
            <a:off x="912137" y="2943420"/>
            <a:ext cx="8035293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/>
              <a:t>56% of breaches are attributed to poor security awareness among employees.</a:t>
            </a:r>
            <a:endParaRPr lang="en-US" sz="1200" spc="15" dirty="0">
              <a:cs typeface="Calibri"/>
            </a:endParaRPr>
          </a:p>
        </p:txBody>
      </p:sp>
      <p:sp>
        <p:nvSpPr>
          <p:cNvPr id="152" name="object 5"/>
          <p:cNvSpPr txBox="1"/>
          <p:nvPr/>
        </p:nvSpPr>
        <p:spPr>
          <a:xfrm>
            <a:off x="638332" y="2630098"/>
            <a:ext cx="3600923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Low </a:t>
            </a:r>
            <a:r>
              <a:rPr lang="en-US" spc="-94" dirty="0" err="1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Cybersecurity</a:t>
            </a: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 Awareness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8" name="object 5"/>
          <p:cNvSpPr txBox="1"/>
          <p:nvPr/>
        </p:nvSpPr>
        <p:spPr>
          <a:xfrm>
            <a:off x="641666" y="3315550"/>
            <a:ext cx="5035234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Lack of Necessary </a:t>
            </a:r>
            <a:r>
              <a:rPr lang="en-US" spc="-94" dirty="0" err="1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Cybersecurity</a:t>
            </a: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 Tools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9" name="object 6"/>
          <p:cNvSpPr txBox="1"/>
          <p:nvPr/>
        </p:nvSpPr>
        <p:spPr>
          <a:xfrm>
            <a:off x="927100" y="3628872"/>
            <a:ext cx="8035293" cy="39177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/>
              <a:t>54% of organizations attribute breaches to </a:t>
            </a:r>
            <a:r>
              <a:rPr lang="en-US" sz="1200" dirty="0" smtClean="0"/>
              <a:t>lack of essential </a:t>
            </a:r>
            <a:r>
              <a:rPr lang="en-US" sz="1200" dirty="0" err="1"/>
              <a:t>cybersecurity</a:t>
            </a:r>
            <a:r>
              <a:rPr lang="en-US" sz="1200" dirty="0"/>
              <a:t> solutions</a:t>
            </a:r>
            <a:r>
              <a:rPr lang="en-US" sz="1200" dirty="0" smtClean="0"/>
              <a:t>.</a:t>
            </a:r>
            <a:endParaRPr lang="en-US" sz="1200" spc="15" dirty="0">
              <a:cs typeface="Calibri"/>
            </a:endParaRP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It’s expensive to build everything in-house.</a:t>
            </a:r>
            <a:endParaRPr lang="en-US" sz="1200" dirty="0" smtClean="0"/>
          </a:p>
        </p:txBody>
      </p:sp>
      <p:sp>
        <p:nvSpPr>
          <p:cNvPr id="10" name="object 5"/>
          <p:cNvSpPr txBox="1"/>
          <p:nvPr/>
        </p:nvSpPr>
        <p:spPr>
          <a:xfrm>
            <a:off x="638332" y="4255593"/>
            <a:ext cx="7095968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Misconfigurations</a:t>
            </a:r>
            <a:r>
              <a:rPr lang="en-US" spc="-94" dirty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: The Hidden Weakness in Cyber Defense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12" name="object 6"/>
          <p:cNvSpPr txBox="1"/>
          <p:nvPr/>
        </p:nvSpPr>
        <p:spPr>
          <a:xfrm>
            <a:off x="927100" y="4569417"/>
            <a:ext cx="8035293" cy="39177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dirty="0" smtClean="0"/>
              <a:t>Over </a:t>
            </a:r>
            <a:r>
              <a:rPr lang="en-US" sz="1200" dirty="0"/>
              <a:t>80% of successful breaches involve misconfigurations or human </a:t>
            </a:r>
            <a:r>
              <a:rPr lang="en-US" sz="1200" dirty="0" smtClean="0"/>
              <a:t>error.</a:t>
            </a:r>
          </a:p>
          <a:p>
            <a:pPr marL="138589" marR="264795" indent="-129540">
              <a:spcBef>
                <a:spcPts val="79"/>
              </a:spcBef>
              <a:buFont typeface="Arial"/>
              <a:buChar char="•"/>
              <a:tabLst>
                <a:tab pos="138589" algn="l"/>
              </a:tabLst>
            </a:pPr>
            <a:r>
              <a:rPr lang="en-US" sz="1200" spc="15" dirty="0" smtClean="0">
                <a:cs typeface="Calibri"/>
              </a:rPr>
              <a:t>Very difficult for MSME organizations of effectively deploy, manage &amp; optimize their security solutions.</a:t>
            </a:r>
            <a:endParaRPr 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270854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object 2"/>
          <p:cNvSpPr txBox="1">
            <a:spLocks noGrp="1"/>
          </p:cNvSpPr>
          <p:nvPr>
            <p:ph type="title"/>
          </p:nvPr>
        </p:nvSpPr>
        <p:spPr>
          <a:xfrm>
            <a:off x="638333" y="657238"/>
            <a:ext cx="805180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21431">
              <a:spcBef>
                <a:spcPts val="79"/>
              </a:spcBef>
            </a:pPr>
            <a:r>
              <a:rPr lang="en-US" sz="2400" dirty="0" smtClean="0">
                <a:latin typeface="Arial Black" panose="020B0A04020102020204" pitchFamily="34" charset="0"/>
              </a:rPr>
              <a:t>Impact </a:t>
            </a:r>
            <a:r>
              <a:rPr lang="en-US" sz="2400" dirty="0">
                <a:latin typeface="Arial Black" panose="020B0A04020102020204" pitchFamily="34" charset="0"/>
              </a:rPr>
              <a:t>of a Cyber Breach</a:t>
            </a:r>
            <a:endParaRPr sz="2400" spc="-101" dirty="0">
              <a:latin typeface="Arial Black" panose="020B0A04020102020204" pitchFamily="34" charset="0"/>
            </a:endParaRPr>
          </a:p>
        </p:txBody>
      </p:sp>
      <p:sp>
        <p:nvSpPr>
          <p:cNvPr id="148" name="object 3"/>
          <p:cNvSpPr txBox="1"/>
          <p:nvPr/>
        </p:nvSpPr>
        <p:spPr>
          <a:xfrm>
            <a:off x="651033" y="1521566"/>
            <a:ext cx="2654205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Tangible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152" name="object 5"/>
          <p:cNvSpPr txBox="1"/>
          <p:nvPr/>
        </p:nvSpPr>
        <p:spPr>
          <a:xfrm>
            <a:off x="651033" y="3049198"/>
            <a:ext cx="3600923" cy="28709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Intangible</a:t>
            </a:r>
            <a:endParaRPr dirty="0">
              <a:latin typeface="Arial Black" panose="020B0A04020102020204" pitchFamily="34" charset="0"/>
              <a:cs typeface="Arial Black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638333" y="1961750"/>
            <a:ext cx="7469705" cy="74876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Regulatory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fines &amp;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penalties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Loss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Revenue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loss / theft</a:t>
            </a:r>
          </a:p>
        </p:txBody>
      </p:sp>
      <p:sp>
        <p:nvSpPr>
          <p:cNvPr id="14" name="object 4"/>
          <p:cNvSpPr txBox="1"/>
          <p:nvPr/>
        </p:nvSpPr>
        <p:spPr>
          <a:xfrm>
            <a:off x="638332" y="3635593"/>
            <a:ext cx="7469705" cy="748762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Loss of customer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trust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Loss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Reputation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Loss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of Market Share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70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 b="1" dirty="0">
                <a:latin typeface="Arial Black" panose="020B0A04020102020204" pitchFamily="34" charset="0"/>
              </a:rPr>
              <a:t>What is </a:t>
            </a:r>
            <a:r>
              <a:rPr sz="2400" b="1" dirty="0" smtClean="0">
                <a:latin typeface="Arial Black" panose="020B0A04020102020204" pitchFamily="34" charset="0"/>
              </a:rPr>
              <a:t>MSSP?</a:t>
            </a:r>
            <a:endParaRPr sz="24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MSSP</a:t>
            </a:r>
            <a:r>
              <a:rPr lang="en-US" sz="1800" dirty="0" smtClean="0">
                <a:latin typeface="Arial Black" panose="020B0A04020102020204" pitchFamily="34" charset="0"/>
                <a:cs typeface="Arial" panose="020B0604020202020204" pitchFamily="34" charset="0"/>
              </a:rPr>
              <a:t> is an acronym for Managed Security Services Provider.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It’s is a company that manages, monitors and protects your organization’s IT infrastructure &amp; data from cyber threats 24/7.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Arial Black" panose="020B0A04020102020204" pitchFamily="34" charset="0"/>
                <a:cs typeface="Arial" panose="020B0604020202020204" pitchFamily="34" charset="0"/>
              </a:rPr>
              <a:t>What does it mean for you?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You get to work with trained &amp; certified team of security experts who manages and monitors your network 24*7*365 so you can focus on your business.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 get complete end-to-end security offering from Alf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ME covering all aspects of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Dedicated team support engineers to assist you with day-to-day issues and troubleshooting.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Best in-class incident response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team responsible for managing and responding to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incidents.</a:t>
            </a:r>
          </a:p>
          <a:p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Complete peace of mind!!!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Arial Black" panose="020B0A04020102020204" pitchFamily="34" charset="0"/>
              </a:rPr>
              <a:t>Customer Benefits</a:t>
            </a:r>
            <a:endParaRPr sz="24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Security Without the Complexity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Enterprise-grade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without needing to hire, train, or manage a security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team. All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operational burden is handled by experts.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24*7 Monitoring &amp; Protection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Customers get round-the-clock surveillance, real-time alerts, and rapid response to incidents.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Cost Effective Security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Instead of buying expensive tools, hardware, and licenses, customers simply pay a predictable monthly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subscription.No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CapEx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No surprise upgrades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Always Up to Date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All security products i.e. firewalls, endpoint agents, email security, SIEM rules — are patched, updated, and optimally configured. Customers never fall behind on updates.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5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016000"/>
            <a:ext cx="8229600" cy="5110163"/>
          </a:xfrm>
        </p:spPr>
        <p:txBody>
          <a:bodyPr>
            <a:normAutofit/>
          </a:bodyPr>
          <a:lstStyle/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Access to Skilled Cyber Experts</a:t>
            </a:r>
            <a:r>
              <a:rPr lang="en-US" sz="1800" dirty="0" smtClean="0">
                <a:latin typeface="Arial Black" panose="020B0A04020102020204" pitchFamily="34" charset="0"/>
              </a:rPr>
              <a:t/>
            </a:r>
            <a:br>
              <a:rPr lang="en-US" sz="1800" dirty="0" smtClean="0">
                <a:latin typeface="Arial Black" panose="020B0A040201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Instant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access to certified experts, threat analysts, and SOC professionals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dirty="0" smtClean="0"/>
              <a:t/>
            </a:r>
            <a:br>
              <a:rPr lang="en-US" sz="1800" dirty="0" smtClean="0"/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</a:rPr>
              <a:t>Faster Response to Threats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MSSP detects and responds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immediately threats &amp; incidents,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dramatically reducing the impact of attacks.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</a:rPr>
              <a:t>Better Visibility &amp; Reporting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Daily/Weekly/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Monthly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security reports, and insights that show exactly what’s happening and how they’re being protected.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Improved Compliance &amp; Reporting</a:t>
            </a:r>
            <a:r>
              <a:rPr lang="en-IN" sz="1800" dirty="0">
                <a:latin typeface="Arial Black" panose="020B0A04020102020204" pitchFamily="34" charset="0"/>
              </a:rPr>
              <a:t/>
            </a:r>
            <a:br>
              <a:rPr lang="en-IN" sz="1800" dirty="0">
                <a:latin typeface="Arial Black" panose="020B0A040201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MSSP ensures security controls align with standards like ISO, PCI-DSS, GDPR, NCA ECC, SAMA, 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etc. This </a:t>
            </a: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helps customers maintain compliance effortlessly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513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Arial Black" panose="020B0A04020102020204" pitchFamily="34" charset="0"/>
              </a:rPr>
              <a:t>How </a:t>
            </a:r>
            <a:r>
              <a:rPr lang="en-IN" sz="2400" dirty="0" smtClean="0">
                <a:latin typeface="Arial Black" panose="020B0A04020102020204" pitchFamily="34" charset="0"/>
              </a:rPr>
              <a:t>does a MSSP differ from a MSP?</a:t>
            </a:r>
            <a:endParaRPr sz="24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Core Focus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MSPs provides generic managed IT services whereas MSSPs solely focus on providing managed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services.</a:t>
            </a:r>
            <a:b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spc="-94" dirty="0" smtClean="0">
                <a:solidFill>
                  <a:srgbClr val="85BB24"/>
                </a:solidFill>
                <a:latin typeface="Arial Black" panose="020B0A04020102020204" pitchFamily="34" charset="0"/>
                <a:cs typeface="Arial Black"/>
              </a:rPr>
              <a:t>Tools &amp; Technology</a:t>
            </a:r>
            <a:r>
              <a:rPr lang="en-IN" sz="1800" dirty="0" smtClean="0">
                <a:latin typeface="Arial Black" panose="020B0A04020102020204" pitchFamily="34" charset="0"/>
              </a:rPr>
              <a:t/>
            </a:r>
            <a:br>
              <a:rPr lang="en-IN" sz="1800" dirty="0" smtClean="0">
                <a:latin typeface="Arial Black" panose="020B0A04020102020204" pitchFamily="34" charset="0"/>
              </a:rPr>
            </a:b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MSSPs rely on specialized </a:t>
            </a:r>
            <a:r>
              <a:rPr lang="en-US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tools like SIEM &amp; SOAR whereas MSP may rely on standard IT tools.</a:t>
            </a:r>
            <a:r>
              <a:rPr lang="en-IN" sz="1800" dirty="0">
                <a:latin typeface="Arial Black" panose="020B0A04020102020204" pitchFamily="34" charset="0"/>
              </a:rPr>
              <a:t/>
            </a:r>
            <a:br>
              <a:rPr lang="en-IN" sz="1800" dirty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en-US" sz="1800" spc="-56" dirty="0" smtClean="0">
                <a:solidFill>
                  <a:srgbClr val="85BB24"/>
                </a:solidFill>
                <a:latin typeface="Arial Black"/>
                <a:cs typeface="Arial Black"/>
              </a:rPr>
              <a:t>Outcome</a:t>
            </a:r>
            <a:r>
              <a:rPr lang="en-IN" sz="1800" dirty="0">
                <a:latin typeface="Arial Black" panose="020B0A04020102020204" pitchFamily="34" charset="0"/>
              </a:rPr>
              <a:t/>
            </a:r>
            <a:br>
              <a:rPr lang="en-IN" sz="1800" dirty="0">
                <a:latin typeface="Arial Black" panose="020B0A04020102020204" pitchFamily="34" charset="0"/>
              </a:rPr>
            </a:b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MSP may help in achieving higher availability and minimizing IT downtime. However, MSSP helps in reducing </a:t>
            </a:r>
            <a:r>
              <a:rPr lang="en-IN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cybersecurity</a:t>
            </a:r>
            <a:r>
              <a:rPr lang="en-IN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risk &amp; enhance security posture.</a:t>
            </a:r>
            <a:endParaRPr lang="en-US" sz="1800" dirty="0" smtClean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349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Alf MSSP Offering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>
                <a:latin typeface="Arial Black" panose="020B0A04020102020204" pitchFamily="34" charset="0"/>
              </a:rPr>
              <a:t>Managed Next-Gen Firewall</a:t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</a:endParaRPr>
          </a:p>
          <a:p>
            <a:r>
              <a:rPr lang="en-US" sz="1800" dirty="0" smtClean="0">
                <a:latin typeface="Arial Black" panose="020B0A04020102020204" pitchFamily="34" charset="0"/>
              </a:rPr>
              <a:t>Managed Email Security</a:t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</a:endParaRPr>
          </a:p>
          <a:p>
            <a:r>
              <a:rPr lang="en-US" sz="1800" dirty="0" smtClean="0">
                <a:latin typeface="Arial Black" panose="020B0A04020102020204" pitchFamily="34" charset="0"/>
              </a:rPr>
              <a:t>Managed End Point Protection</a:t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</a:endParaRPr>
          </a:p>
          <a:p>
            <a:r>
              <a:rPr lang="en-US" sz="1800" dirty="0" smtClean="0">
                <a:latin typeface="Arial Black" panose="020B0A04020102020204" pitchFamily="34" charset="0"/>
              </a:rPr>
              <a:t>Managed SIEM </a:t>
            </a:r>
            <a:r>
              <a:rPr lang="en-US" sz="1800" dirty="0">
                <a:latin typeface="Arial Black" panose="020B0A04020102020204" pitchFamily="34" charset="0"/>
              </a:rPr>
              <a:t>/ SOC </a:t>
            </a:r>
            <a:r>
              <a:rPr lang="en-US" sz="1800" dirty="0" smtClean="0">
                <a:latin typeface="Arial Black" panose="020B0A04020102020204" pitchFamily="34" charset="0"/>
              </a:rPr>
              <a:t>Monitoring</a:t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IN" sz="18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79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6700"/>
            <a:ext cx="8229600" cy="58594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210493"/>
              </p:ext>
            </p:extLst>
          </p:nvPr>
        </p:nvGraphicFramePr>
        <p:xfrm>
          <a:off x="634998" y="2997199"/>
          <a:ext cx="8051802" cy="3490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2"/>
                <a:gridCol w="2476500"/>
                <a:gridCol w="3492500"/>
              </a:tblGrid>
              <a:tr h="381531">
                <a:tc gridSpan="3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</a:t>
                      </a: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Bundle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</a:tr>
              <a:tr h="2990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Basic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Intermediate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Advanced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2773832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Firewall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Firewall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  <a:endParaRPr lang="en-IN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URL</a:t>
                      </a: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Filtering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Control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Anti-bot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Anti-virus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Firewall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IPS</a:t>
                      </a:r>
                      <a:endParaRPr lang="en-IN" sz="16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URL</a:t>
                      </a: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Filtering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 Control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Anti-bot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Anti-virus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DNS Security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Threat Emulation (Sandboxing)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Threat Extraction (CDR)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Zero Phishing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61436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Managed Next-Gen Firewall</a:t>
            </a:r>
            <a:endParaRPr sz="2400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1574798"/>
            <a:ext cx="8229600" cy="88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Cloud-delivered managed firewall solution that provides advanced network security which is divided into 3 bundles as shown below.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3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594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9023"/>
              </p:ext>
            </p:extLst>
          </p:nvPr>
        </p:nvGraphicFramePr>
        <p:xfrm>
          <a:off x="634998" y="4970780"/>
          <a:ext cx="760730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73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Add</a:t>
                      </a:r>
                      <a:r>
                        <a:rPr lang="en-US" baseline="0" dirty="0" smtClean="0"/>
                        <a:t>-ons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smtClean="0"/>
                        <a:t>Log</a:t>
                      </a:r>
                      <a:r>
                        <a:rPr lang="en-US" baseline="0" dirty="0" smtClean="0"/>
                        <a:t> Retention up to 3/6/12 months.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smtClean="0"/>
                        <a:t>Regulatory Compliance.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027829"/>
              </p:ext>
            </p:extLst>
          </p:nvPr>
        </p:nvGraphicFramePr>
        <p:xfrm>
          <a:off x="634998" y="439420"/>
          <a:ext cx="7607302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7302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What do you</a:t>
                      </a:r>
                      <a:r>
                        <a:rPr lang="en-US" baseline="0" dirty="0" smtClean="0"/>
                        <a:t> get with Managed Firewall?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dirty="0" smtClean="0"/>
                        <a:t>SIEM: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Daily / Weekly / Monthly Access-Control &amp; Threat Prevention reports.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Email based alerts.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Daily utilization reports.</a:t>
                      </a:r>
                      <a:br>
                        <a:rPr lang="en-US" baseline="0" dirty="0" smtClean="0"/>
                      </a:br>
                      <a:endParaRPr lang="en-US" baseline="0" dirty="0" smtClean="0"/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aseline="0" dirty="0" smtClean="0"/>
                        <a:t>Miscellaneous Capabilities: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Third-party </a:t>
                      </a:r>
                      <a:r>
                        <a:rPr lang="en-US" baseline="0" dirty="0" err="1" smtClean="0"/>
                        <a:t>IoC</a:t>
                      </a:r>
                      <a:r>
                        <a:rPr lang="en-US" baseline="0" dirty="0" smtClean="0"/>
                        <a:t> feed integration.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Supports custom threat indicators. 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Forwarding logs to third-party SIEM / SYSLOG.</a:t>
                      </a:r>
                    </a:p>
                    <a:p>
                      <a:pPr marL="400050" indent="-400050">
                        <a:buFont typeface="+mj-lt"/>
                        <a:buAutoNum type="romanLcPeriod"/>
                      </a:pPr>
                      <a:r>
                        <a:rPr lang="en-US" baseline="0" dirty="0" smtClean="0"/>
                        <a:t>Supports SNORT signatures.</a:t>
                      </a:r>
                    </a:p>
                    <a:p>
                      <a:pPr marL="0" indent="0">
                        <a:buFont typeface="+mj-lt"/>
                        <a:buNone/>
                      </a:pPr>
                      <a:endParaRPr lang="en-US" baseline="0" dirty="0" smtClean="0"/>
                    </a:p>
                    <a:p>
                      <a:pPr marL="0" indent="0">
                        <a:buFont typeface="+mj-lt"/>
                        <a:buNone/>
                      </a:pPr>
                      <a:r>
                        <a:rPr lang="en-US" baseline="0" dirty="0" smtClean="0"/>
                        <a:t>- 24*7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04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326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Managed Firewall Traffic Flow</a:t>
            </a:r>
            <a:endParaRPr lang="en-IN" sz="2400" dirty="0">
              <a:latin typeface="Arial Black" panose="020B0A040201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138732"/>
            <a:ext cx="8432800" cy="539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5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61436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Arial Black" panose="020B0A04020102020204" pitchFamily="34" charset="0"/>
              </a:rPr>
              <a:t>Managed Email Security</a:t>
            </a:r>
            <a:endParaRPr sz="2400" dirty="0">
              <a:latin typeface="Arial Black" panose="020B0A040201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3162298"/>
            <a:ext cx="8229600" cy="26400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 smtClean="0">
                <a:latin typeface="Arial Black" panose="020B0A04020102020204" pitchFamily="34" charset="0"/>
              </a:rPr>
              <a:t>What it Means for you?</a:t>
            </a:r>
            <a:r>
              <a:rPr lang="en-US" sz="1800" dirty="0" smtClean="0">
                <a:latin typeface="Arial Black" panose="020B0A04020102020204" pitchFamily="34" charset="0"/>
              </a:rPr>
              <a:t/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US" sz="1800" dirty="0">
              <a:latin typeface="Arial Black" panose="020B0A04020102020204" pitchFamily="34" charset="0"/>
            </a:endParaRPr>
          </a:p>
          <a:p>
            <a:r>
              <a:rPr lang="en-US" sz="1700" dirty="0" smtClean="0">
                <a:latin typeface="Arial Black" panose="020B0A04020102020204" pitchFamily="34" charset="0"/>
              </a:rPr>
              <a:t>Complete </a:t>
            </a:r>
            <a:r>
              <a:rPr lang="en-US" sz="1700" dirty="0">
                <a:latin typeface="Arial Black" panose="020B0A04020102020204" pitchFamily="34" charset="0"/>
              </a:rPr>
              <a:t>Email </a:t>
            </a:r>
            <a:r>
              <a:rPr lang="en-US" sz="1700" dirty="0" smtClean="0">
                <a:latin typeface="Arial Black" panose="020B0A04020102020204" pitchFamily="34" charset="0"/>
              </a:rPr>
              <a:t>Security</a:t>
            </a:r>
            <a:r>
              <a:rPr lang="en-US" sz="1800" dirty="0">
                <a:latin typeface="Arial Black" panose="020B0A04020102020204" pitchFamily="34" charset="0"/>
              </a:rPr>
              <a:t/>
            </a:r>
            <a:br>
              <a:rPr lang="en-US" sz="1800" dirty="0">
                <a:latin typeface="Arial Black" panose="020B0A040201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Protect your mail servers against zero-day threats, spams and malicious attachments.</a:t>
            </a:r>
            <a:r>
              <a:rPr lang="en-US" sz="1800" dirty="0" smtClean="0">
                <a:latin typeface="Arial Black" panose="020B0A04020102020204" pitchFamily="34" charset="0"/>
              </a:rPr>
              <a:t/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</a:endParaRPr>
          </a:p>
          <a:p>
            <a:r>
              <a:rPr lang="en-US" sz="1700" dirty="0" smtClean="0">
                <a:latin typeface="Arial Black" panose="020B0A04020102020204" pitchFamily="34" charset="0"/>
              </a:rPr>
              <a:t>Protection Against Phishing</a:t>
            </a:r>
            <a:r>
              <a:rPr lang="en-US" sz="1800" dirty="0" smtClean="0">
                <a:latin typeface="Arial Black" panose="020B0A04020102020204" pitchFamily="34" charset="0"/>
              </a:rPr>
              <a:t/>
            </a:r>
            <a:br>
              <a:rPr lang="en-US" sz="1800" dirty="0" smtClean="0">
                <a:latin typeface="Arial Black" panose="020B0A04020102020204" pitchFamily="34" charset="0"/>
              </a:rPr>
            </a:b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Delivers exceptional protection against generic &amp; targeted phishing campaigns.</a:t>
            </a:r>
            <a:r>
              <a:rPr lang="en-US" sz="1800" dirty="0" smtClean="0">
                <a:latin typeface="Arial Black" panose="020B0A04020102020204" pitchFamily="34" charset="0"/>
              </a:rPr>
              <a:t/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US" sz="1800" dirty="0" smtClean="0">
              <a:latin typeface="Arial Black" panose="020B0A04020102020204" pitchFamily="34" charset="0"/>
            </a:endParaRPr>
          </a:p>
          <a:p>
            <a:r>
              <a:rPr lang="en-US" sz="1700" dirty="0">
                <a:latin typeface="Arial Black" panose="020B0A04020102020204" pitchFamily="34" charset="0"/>
              </a:rPr>
              <a:t>Protection Against </a:t>
            </a:r>
            <a:r>
              <a:rPr lang="en-US" sz="1700" dirty="0" smtClean="0">
                <a:latin typeface="Arial Black" panose="020B0A04020102020204" pitchFamily="34" charset="0"/>
              </a:rPr>
              <a:t>DLP</a:t>
            </a:r>
            <a:r>
              <a:rPr lang="en-US" sz="1800" dirty="0">
                <a:latin typeface="Arial Black" panose="020B0A04020102020204" pitchFamily="34" charset="0"/>
              </a:rPr>
              <a:t/>
            </a:r>
            <a:br>
              <a:rPr lang="en-US" sz="1800" dirty="0">
                <a:latin typeface="Arial Black" panose="020B0A04020102020204" pitchFamily="34" charset="0"/>
              </a:rPr>
            </a:b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Gain visibility and control of sensitive data flowing in and out of your organization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800" dirty="0" smtClean="0">
                <a:latin typeface="Arial Black" panose="020B0A04020102020204" pitchFamily="34" charset="0"/>
              </a:rPr>
              <a:t/>
            </a:r>
            <a:br>
              <a:rPr lang="en-US" sz="1800" dirty="0" smtClean="0">
                <a:latin typeface="Arial Black" panose="020B0A04020102020204" pitchFamily="34" charset="0"/>
              </a:rPr>
            </a:br>
            <a:endParaRPr lang="en-IN" sz="1800" dirty="0">
              <a:latin typeface="Arial Black" panose="020B0A04020102020204" pitchFamily="34" charset="0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1574798"/>
            <a:ext cx="8229600" cy="889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 cloud-native email security platform that seamlessly integrates with Microsoft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365, Google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Workspace, and even on-premises mail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servers, ensuring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complete protection wherever your email lives.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24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11337</TotalTime>
  <Words>829</Words>
  <Application>Microsoft Office PowerPoint</Application>
  <PresentationFormat>On-screen Show (4:3)</PresentationFormat>
  <Paragraphs>178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Arial Narrow</vt:lpstr>
      <vt:lpstr>Calibri</vt:lpstr>
      <vt:lpstr>Tahoma</vt:lpstr>
      <vt:lpstr>Office Theme</vt:lpstr>
      <vt:lpstr>Launching Managed Security Services with Check Point</vt:lpstr>
      <vt:lpstr>Agenda</vt:lpstr>
      <vt:lpstr>Alf Overview</vt:lpstr>
      <vt:lpstr>Threat Landscape Overview</vt:lpstr>
      <vt:lpstr>Threat vector | Phishing</vt:lpstr>
      <vt:lpstr>Threat vector | Ransomware</vt:lpstr>
      <vt:lpstr>Threat vector | Email &amp; Web</vt:lpstr>
      <vt:lpstr>Emerging Threat | AI</vt:lpstr>
      <vt:lpstr>Cyber Security Gap</vt:lpstr>
      <vt:lpstr>Impact of a Cyber Breach</vt:lpstr>
      <vt:lpstr>What is MSSP?</vt:lpstr>
      <vt:lpstr>Customer Benefits</vt:lpstr>
      <vt:lpstr>PowerPoint Presentation</vt:lpstr>
      <vt:lpstr>How does a MSSP differ from a MSP?</vt:lpstr>
      <vt:lpstr>Alf MSSP Offering</vt:lpstr>
      <vt:lpstr>Managed Next-Gen Firewall</vt:lpstr>
      <vt:lpstr>PowerPoint Presentation</vt:lpstr>
      <vt:lpstr>Managed Firewall Traffic Flow</vt:lpstr>
      <vt:lpstr>Managed Email Security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Launching Managed Security Services with Check Point</dc:title>
  <dc:subject/>
  <dc:creator/>
  <cp:keywords/>
  <dc:description>generated using python-pptx</dc:description>
  <cp:lastModifiedBy>lenovo</cp:lastModifiedBy>
  <cp:revision>184</cp:revision>
  <dcterms:created xsi:type="dcterms:W3CDTF">2013-01-27T09:14:16Z</dcterms:created>
  <dcterms:modified xsi:type="dcterms:W3CDTF">2026-01-11T11:47:57Z</dcterms:modified>
  <cp:category/>
</cp:coreProperties>
</file>